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Montserrat"/>
      <p:regular r:id="rId27"/>
      <p:bold r:id="rId28"/>
      <p:italic r:id="rId29"/>
      <p:boldItalic r:id="rId30"/>
    </p:embeddedFont>
    <p:embeddedFont>
      <p:font typeface="La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Montserrat-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691e2e17a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691e2e17a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7a5b0cd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7a5b0cd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8cfb148e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8cfb148e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7a5b0cd7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7a5b0cd7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7a5b0cd7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b7a5b0cd7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7a5b0cd7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b7a5b0cd7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7a5b0cd7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b7a5b0cd7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7a5b0cd7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b7a5b0cd7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b65229aa1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b65229aa1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65229aa1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b65229aa1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7a5b0cd7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b7a5b0cd7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65229aa1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b65229aa1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b65229aa1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b65229aa1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b65229aa1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b65229aa1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b65229aa1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b65229aa1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b65229aa1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b65229aa1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b65229aa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b65229aa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b65229aa1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b65229aa1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8d5625f3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b8d5625f3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b65229aa1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b65229aa1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main.py" TargetMode="External"/><Relationship Id="rId4" Type="http://schemas.openxmlformats.org/officeDocument/2006/relationships/hyperlink" Target="http://main.p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 Id="rId4"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 Id="rId11"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 Id="rId10"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 Id="rId12"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 Id="rId9"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 Id="rId5"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 Id="rId6"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 Id="rId7"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 Id="rId8" Type="http://schemas.openxmlformats.org/officeDocument/2006/relationships/hyperlink" Target="http://localhost:8081/submodels/aHR0cHM6Ly9leGFtcGxlLmNvbS9pZHMvc20vMjA1NF80MTcxXzExNDJfMDQ3OC9TdWJtb2RlbHMvQXNzZXRzL1Rlc3RBc3NldC9CYXR0ZXJ5U00=/submodel-elements/Voltage_measured/$valu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19175" y="841550"/>
            <a:ext cx="5017500" cy="179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Jumeaux numériques de batterie</a:t>
            </a:r>
            <a:endParaRPr/>
          </a:p>
        </p:txBody>
      </p:sp>
      <p:sp>
        <p:nvSpPr>
          <p:cNvPr id="135" name="Google Shape;135;p13"/>
          <p:cNvSpPr txBox="1"/>
          <p:nvPr>
            <p:ph idx="1" type="subTitle"/>
          </p:nvPr>
        </p:nvSpPr>
        <p:spPr>
          <a:xfrm>
            <a:off x="311700" y="294920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Fran</a:t>
            </a:r>
            <a:r>
              <a:rPr lang="fr"/>
              <a:t>çois, Adrien, Gabriel.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709875"/>
            <a:ext cx="7038900" cy="67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Sommaire</a:t>
            </a:r>
            <a:endParaRPr/>
          </a:p>
        </p:txBody>
      </p:sp>
      <p:sp>
        <p:nvSpPr>
          <p:cNvPr id="141" name="Google Shape;141;p14"/>
          <p:cNvSpPr txBox="1"/>
          <p:nvPr>
            <p:ph idx="1" type="body"/>
          </p:nvPr>
        </p:nvSpPr>
        <p:spPr>
          <a:xfrm>
            <a:off x="1297500" y="1567550"/>
            <a:ext cx="7038900" cy="3042300"/>
          </a:xfrm>
          <a:prstGeom prst="rect">
            <a:avLst/>
          </a:prstGeom>
        </p:spPr>
        <p:txBody>
          <a:bodyPr anchorCtr="0" anchor="t" bIns="91425" lIns="91425" spcFirstLastPara="1" rIns="91425" wrap="square" tIns="91425">
            <a:normAutofit/>
          </a:bodyPr>
          <a:lstStyle/>
          <a:p>
            <a:pPr indent="-329685" lvl="0" marL="457200" rtl="0" algn="just">
              <a:lnSpc>
                <a:spcPct val="170000"/>
              </a:lnSpc>
              <a:spcBef>
                <a:spcPts val="0"/>
              </a:spcBef>
              <a:spcAft>
                <a:spcPts val="0"/>
              </a:spcAft>
              <a:buSzPts val="1592"/>
              <a:buAutoNum type="romanUcPeriod"/>
            </a:pPr>
            <a:r>
              <a:rPr lang="fr" sz="1591"/>
              <a:t>Introduction et contexte autour de la durée de vie de la batterie</a:t>
            </a:r>
            <a:endParaRPr sz="1591"/>
          </a:p>
          <a:p>
            <a:pPr indent="-329685" lvl="0" marL="457200" rtl="0" algn="just">
              <a:lnSpc>
                <a:spcPct val="170000"/>
              </a:lnSpc>
              <a:spcBef>
                <a:spcPts val="0"/>
              </a:spcBef>
              <a:spcAft>
                <a:spcPts val="0"/>
              </a:spcAft>
              <a:buSzPts val="1592"/>
              <a:buAutoNum type="romanUcPeriod"/>
            </a:pPr>
            <a:r>
              <a:rPr lang="fr" sz="1591"/>
              <a:t>Approche holistique pour la prédiction de la RUL</a:t>
            </a:r>
            <a:endParaRPr sz="1591"/>
          </a:p>
          <a:p>
            <a:pPr indent="-329685" lvl="0" marL="457200" rtl="0" algn="just">
              <a:lnSpc>
                <a:spcPct val="170000"/>
              </a:lnSpc>
              <a:spcBef>
                <a:spcPts val="0"/>
              </a:spcBef>
              <a:spcAft>
                <a:spcPts val="0"/>
              </a:spcAft>
              <a:buSzPts val="1592"/>
              <a:buAutoNum type="romanUcPeriod"/>
            </a:pPr>
            <a:r>
              <a:rPr lang="fr" sz="1591"/>
              <a:t>Développement de notre modèle de prédiction</a:t>
            </a:r>
            <a:endParaRPr sz="1591"/>
          </a:p>
          <a:p>
            <a:pPr indent="-329685" lvl="0" marL="457200" rtl="0" algn="just">
              <a:lnSpc>
                <a:spcPct val="170000"/>
              </a:lnSpc>
              <a:spcBef>
                <a:spcPts val="0"/>
              </a:spcBef>
              <a:spcAft>
                <a:spcPts val="0"/>
              </a:spcAft>
              <a:buSzPts val="1592"/>
              <a:buAutoNum type="romanUcPeriod"/>
            </a:pPr>
            <a:r>
              <a:rPr lang="fr" sz="1591"/>
              <a:t>Mise en place d’une IHM, API, AAS</a:t>
            </a:r>
            <a:endParaRPr sz="1591"/>
          </a:p>
          <a:p>
            <a:pPr indent="-329685" lvl="0" marL="457200" rtl="0" algn="just">
              <a:lnSpc>
                <a:spcPct val="170000"/>
              </a:lnSpc>
              <a:spcBef>
                <a:spcPts val="0"/>
              </a:spcBef>
              <a:spcAft>
                <a:spcPts val="0"/>
              </a:spcAft>
              <a:buSzPts val="1592"/>
              <a:buAutoNum type="romanUcPeriod"/>
            </a:pPr>
            <a:r>
              <a:rPr lang="fr" sz="1591"/>
              <a:t>Challenges et résultats prédits</a:t>
            </a:r>
            <a:endParaRPr sz="1591"/>
          </a:p>
          <a:p>
            <a:pPr indent="-329685" lvl="0" marL="457200" rtl="0" algn="just">
              <a:lnSpc>
                <a:spcPct val="170000"/>
              </a:lnSpc>
              <a:spcBef>
                <a:spcPts val="0"/>
              </a:spcBef>
              <a:spcAft>
                <a:spcPts val="0"/>
              </a:spcAft>
              <a:buSzPts val="1592"/>
              <a:buAutoNum type="romanUcPeriod"/>
            </a:pPr>
            <a:r>
              <a:rPr lang="fr" sz="1591"/>
              <a:t>Conclusion et Q&amp;A</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AutoNum type="romanUcPeriod"/>
            </a:pPr>
            <a:r>
              <a:rPr lang="fr"/>
              <a:t>Contexte</a:t>
            </a:r>
            <a:endParaRPr/>
          </a:p>
        </p:txBody>
      </p:sp>
      <p:sp>
        <p:nvSpPr>
          <p:cNvPr id="147" name="Google Shape;147;p15"/>
          <p:cNvSpPr txBox="1"/>
          <p:nvPr>
            <p:ph idx="1" type="body"/>
          </p:nvPr>
        </p:nvSpPr>
        <p:spPr>
          <a:xfrm>
            <a:off x="330950" y="1437175"/>
            <a:ext cx="5128500" cy="3314100"/>
          </a:xfrm>
          <a:prstGeom prst="rect">
            <a:avLst/>
          </a:prstGeom>
        </p:spPr>
        <p:txBody>
          <a:bodyPr anchorCtr="0" anchor="t" bIns="91425" lIns="91425" spcFirstLastPara="1" rIns="91425" wrap="square" tIns="91425">
            <a:normAutofit lnSpcReduction="20000"/>
          </a:bodyPr>
          <a:lstStyle/>
          <a:p>
            <a:pPr indent="-311150" lvl="0" marL="457200" rtl="0" algn="l">
              <a:lnSpc>
                <a:spcPct val="100000"/>
              </a:lnSpc>
              <a:spcBef>
                <a:spcPts val="0"/>
              </a:spcBef>
              <a:spcAft>
                <a:spcPts val="0"/>
              </a:spcAft>
              <a:buSzPts val="1300"/>
              <a:buChar char="●"/>
            </a:pPr>
            <a:r>
              <a:rPr lang="fr"/>
              <a:t>Les batteries rechargeables ont une durée de vie finie et se dégradent tout au long de leur vie utile à cause de certains paramètres tels que le nombre de cycles, la température, etc.</a:t>
            </a:r>
            <a:endParaRPr/>
          </a:p>
          <a:p>
            <a:pPr indent="-311150" lvl="0" marL="457200" rtl="0" algn="l">
              <a:spcBef>
                <a:spcPts val="1000"/>
              </a:spcBef>
              <a:spcAft>
                <a:spcPts val="0"/>
              </a:spcAft>
              <a:buSzPts val="1300"/>
              <a:buChar char="●"/>
            </a:pPr>
            <a:r>
              <a:rPr lang="fr"/>
              <a:t>Il est important de savoir la durée de vie utile restante (RUL) d’une batterie afin d’anticiper son remplacement et minimiser les effets sur les opérations</a:t>
            </a:r>
            <a:endParaRPr/>
          </a:p>
          <a:p>
            <a:pPr indent="-311150" lvl="0" marL="457200" rtl="0" algn="l">
              <a:spcBef>
                <a:spcPts val="1000"/>
              </a:spcBef>
              <a:spcAft>
                <a:spcPts val="0"/>
              </a:spcAft>
              <a:buSzPts val="1300"/>
              <a:buChar char="●"/>
            </a:pPr>
            <a:r>
              <a:rPr lang="fr"/>
              <a:t>Il est possible de modéliser la dégradation de batteries en utilisant des données de test réels pour ensuite construire des modèles de prédiction “machine learning”.</a:t>
            </a:r>
            <a:endParaRPr/>
          </a:p>
          <a:p>
            <a:pPr indent="-311150" lvl="0" marL="457200" rtl="0" algn="l">
              <a:spcBef>
                <a:spcPts val="1000"/>
              </a:spcBef>
              <a:spcAft>
                <a:spcPts val="0"/>
              </a:spcAft>
              <a:buSzPts val="1300"/>
              <a:buChar char="●"/>
            </a:pPr>
            <a:r>
              <a:rPr lang="fr"/>
              <a:t>Un jumeau numérique d’une batterie a une grande valeur à l’opérateur car il peut faciliter les opérations et permettre à la planification de remplacement et éviter l’échec de la batterie</a:t>
            </a:r>
            <a:endParaRPr/>
          </a:p>
          <a:p>
            <a:pPr indent="0" lvl="0" marL="0" rtl="0" algn="l">
              <a:spcBef>
                <a:spcPts val="1200"/>
              </a:spcBef>
              <a:spcAft>
                <a:spcPts val="1200"/>
              </a:spcAft>
              <a:buNone/>
            </a:pPr>
            <a:r>
              <a:t/>
            </a:r>
            <a:endParaRPr/>
          </a:p>
        </p:txBody>
      </p:sp>
      <p:pic>
        <p:nvPicPr>
          <p:cNvPr id="148" name="Google Shape;148;p15"/>
          <p:cNvPicPr preferRelativeResize="0"/>
          <p:nvPr/>
        </p:nvPicPr>
        <p:blipFill>
          <a:blip r:embed="rId3">
            <a:alphaModFix/>
          </a:blip>
          <a:stretch>
            <a:fillRect/>
          </a:stretch>
        </p:blipFill>
        <p:spPr>
          <a:xfrm>
            <a:off x="6873899" y="103875"/>
            <a:ext cx="2270100" cy="1589076"/>
          </a:xfrm>
          <a:prstGeom prst="rect">
            <a:avLst/>
          </a:prstGeom>
          <a:noFill/>
          <a:ln>
            <a:noFill/>
          </a:ln>
        </p:spPr>
      </p:pic>
      <p:pic>
        <p:nvPicPr>
          <p:cNvPr id="149" name="Google Shape;149;p15"/>
          <p:cNvPicPr preferRelativeResize="0"/>
          <p:nvPr/>
        </p:nvPicPr>
        <p:blipFill>
          <a:blip r:embed="rId4">
            <a:alphaModFix/>
          </a:blip>
          <a:stretch>
            <a:fillRect/>
          </a:stretch>
        </p:blipFill>
        <p:spPr>
          <a:xfrm>
            <a:off x="5516875" y="1815050"/>
            <a:ext cx="3627125" cy="2065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AutoNum type="romanUcPeriod"/>
            </a:pPr>
            <a:r>
              <a:rPr lang="fr"/>
              <a:t>Définitions</a:t>
            </a:r>
            <a:endParaRPr/>
          </a:p>
        </p:txBody>
      </p:sp>
      <p:sp>
        <p:nvSpPr>
          <p:cNvPr id="155" name="Google Shape;155;p16"/>
          <p:cNvSpPr txBox="1"/>
          <p:nvPr>
            <p:ph idx="1" type="body"/>
          </p:nvPr>
        </p:nvSpPr>
        <p:spPr>
          <a:xfrm>
            <a:off x="358275" y="1577375"/>
            <a:ext cx="8417100" cy="34482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fr">
                <a:solidFill>
                  <a:srgbClr val="FF0000"/>
                </a:solidFill>
              </a:rPr>
              <a:t>RUL (Remaining Use Life) </a:t>
            </a:r>
            <a:r>
              <a:rPr lang="fr" sz="1100">
                <a:solidFill>
                  <a:srgbClr val="FF0000"/>
                </a:solidFill>
                <a:latin typeface="Arial"/>
                <a:ea typeface="Arial"/>
                <a:cs typeface="Arial"/>
                <a:sym typeface="Arial"/>
              </a:rPr>
              <a:t>:</a:t>
            </a:r>
            <a:r>
              <a:rPr lang="fr" sz="1100">
                <a:latin typeface="Arial"/>
                <a:ea typeface="Arial"/>
                <a:cs typeface="Arial"/>
                <a:sym typeface="Arial"/>
              </a:rPr>
              <a:t> désigne l’estimation du temps ou de l’usage restant pendant lequel un système ou un composant peut fonctionner avant d’atteindre un état de défaillance ou de performance inacceptable. Ici on définit la RUL comme le nombre de cycle restant d’une batterie.</a:t>
            </a:r>
            <a:endParaRPr sz="1100">
              <a:latin typeface="Arial"/>
              <a:ea typeface="Arial"/>
              <a:cs typeface="Arial"/>
              <a:sym typeface="Arial"/>
            </a:endParaRPr>
          </a:p>
          <a:p>
            <a:pPr indent="-298450" lvl="0" marL="457200" rtl="0" algn="l">
              <a:spcBef>
                <a:spcPts val="1000"/>
              </a:spcBef>
              <a:spcAft>
                <a:spcPts val="0"/>
              </a:spcAft>
              <a:buSzPts val="1100"/>
              <a:buFont typeface="Arial"/>
              <a:buChar char="❖"/>
            </a:pPr>
            <a:r>
              <a:rPr lang="fr" sz="1100">
                <a:solidFill>
                  <a:srgbClr val="FF0000"/>
                </a:solidFill>
                <a:latin typeface="Arial"/>
                <a:ea typeface="Arial"/>
                <a:cs typeface="Arial"/>
                <a:sym typeface="Arial"/>
              </a:rPr>
              <a:t>IHM (Interface Homme‑Machine) :</a:t>
            </a:r>
            <a:r>
              <a:rPr lang="fr" sz="1100">
                <a:latin typeface="Arial"/>
                <a:ea typeface="Arial"/>
                <a:cs typeface="Arial"/>
                <a:sym typeface="Arial"/>
              </a:rPr>
              <a:t> désigne l’ensemble des moyens matériels et logiciels permettant à un utilisateur d’interagir avec une machine ou un système (écran, boutons, clavier, logiciel, etc.).</a:t>
            </a:r>
            <a:endParaRPr sz="1100">
              <a:latin typeface="Arial"/>
              <a:ea typeface="Arial"/>
              <a:cs typeface="Arial"/>
              <a:sym typeface="Arial"/>
            </a:endParaRPr>
          </a:p>
          <a:p>
            <a:pPr indent="-298450" lvl="0" marL="457200" rtl="0" algn="l">
              <a:spcBef>
                <a:spcPts val="1000"/>
              </a:spcBef>
              <a:spcAft>
                <a:spcPts val="0"/>
              </a:spcAft>
              <a:buSzPts val="1100"/>
              <a:buFont typeface="Arial"/>
              <a:buChar char="❖"/>
            </a:pPr>
            <a:r>
              <a:rPr lang="fr" sz="1100">
                <a:solidFill>
                  <a:srgbClr val="FF0000"/>
                </a:solidFill>
                <a:latin typeface="Arial"/>
                <a:ea typeface="Arial"/>
                <a:cs typeface="Arial"/>
                <a:sym typeface="Arial"/>
              </a:rPr>
              <a:t>API (Application Programming Interface)</a:t>
            </a:r>
            <a:r>
              <a:rPr lang="fr" sz="1100">
                <a:latin typeface="Arial"/>
                <a:ea typeface="Arial"/>
                <a:cs typeface="Arial"/>
                <a:sym typeface="Arial"/>
              </a:rPr>
              <a:t> : c’est un ensemble de règles et de fonctions permettant à des applications de communiquer entre elles et d’échanger des données ou des services de manière standardisée. Ici on utilisera API REST qui est un type d’API qui suit les principes REST et utilise HTTP (GET, POST, PUT, DELETE) pour échanger des ressources.</a:t>
            </a:r>
            <a:endParaRPr sz="1100">
              <a:latin typeface="Arial"/>
              <a:ea typeface="Arial"/>
              <a:cs typeface="Arial"/>
              <a:sym typeface="Arial"/>
            </a:endParaRPr>
          </a:p>
          <a:p>
            <a:pPr indent="-298450" lvl="0" marL="457200" rtl="0" algn="l">
              <a:spcBef>
                <a:spcPts val="1000"/>
              </a:spcBef>
              <a:spcAft>
                <a:spcPts val="0"/>
              </a:spcAft>
              <a:buSzPts val="1100"/>
              <a:buFont typeface="Arial"/>
              <a:buChar char="❖"/>
            </a:pPr>
            <a:r>
              <a:rPr lang="fr" sz="1100">
                <a:solidFill>
                  <a:srgbClr val="FF0000"/>
                </a:solidFill>
                <a:latin typeface="Arial"/>
                <a:ea typeface="Arial"/>
                <a:cs typeface="Arial"/>
                <a:sym typeface="Arial"/>
              </a:rPr>
              <a:t>AAS :</a:t>
            </a:r>
            <a:r>
              <a:rPr lang="fr" sz="1100">
                <a:latin typeface="Arial"/>
                <a:ea typeface="Arial"/>
                <a:cs typeface="Arial"/>
                <a:sym typeface="Arial"/>
              </a:rPr>
              <a:t> c’est une fiche numérique standardisée qui décrit complètement un objet industriel et permet aux systèmes informatiques de communiquer avec lui. Ici On a utilisé AAS explorer pour créer notre AAS.</a:t>
            </a:r>
            <a:endParaRPr sz="1100">
              <a:latin typeface="Arial"/>
              <a:ea typeface="Arial"/>
              <a:cs typeface="Arial"/>
              <a:sym typeface="Arial"/>
            </a:endParaRPr>
          </a:p>
          <a:p>
            <a:pPr indent="-298450" lvl="0" marL="457200" rtl="0" algn="l">
              <a:spcBef>
                <a:spcPts val="1000"/>
              </a:spcBef>
              <a:spcAft>
                <a:spcPts val="0"/>
              </a:spcAft>
              <a:buSzPts val="1100"/>
              <a:buFont typeface="Arial"/>
              <a:buChar char="❖"/>
            </a:pPr>
            <a:r>
              <a:rPr lang="fr" sz="1100">
                <a:solidFill>
                  <a:srgbClr val="FF0000"/>
                </a:solidFill>
                <a:latin typeface="Arial"/>
                <a:ea typeface="Arial"/>
                <a:cs typeface="Arial"/>
                <a:sym typeface="Arial"/>
              </a:rPr>
              <a:t>Modèle de prédiction :</a:t>
            </a:r>
            <a:r>
              <a:rPr lang="fr" sz="1100">
                <a:latin typeface="Arial"/>
                <a:ea typeface="Arial"/>
                <a:cs typeface="Arial"/>
                <a:sym typeface="Arial"/>
              </a:rPr>
              <a:t> c’est un modèle mathématique ou d’apprentissage automatique qui utilise les données d’un actif (issues de son AAS) pour estimer son état futur, notamment sa durée de vie restante (RUL) ou le risque de défaillance.</a:t>
            </a:r>
            <a:endParaRPr sz="1100">
              <a:latin typeface="Arial"/>
              <a:ea typeface="Arial"/>
              <a:cs typeface="Arial"/>
              <a:sym typeface="Arial"/>
            </a:endParaRPr>
          </a:p>
          <a:p>
            <a:pPr indent="-298450" lvl="0" marL="457200" rtl="0" algn="l">
              <a:spcBef>
                <a:spcPts val="1000"/>
              </a:spcBef>
              <a:spcAft>
                <a:spcPts val="0"/>
              </a:spcAft>
              <a:buSzPts val="1100"/>
              <a:buFont typeface="Arial"/>
              <a:buChar char="❖"/>
            </a:pPr>
            <a:r>
              <a:rPr lang="fr" sz="1100">
                <a:solidFill>
                  <a:srgbClr val="FF0000"/>
                </a:solidFill>
                <a:latin typeface="Arial"/>
                <a:ea typeface="Arial"/>
                <a:cs typeface="Arial"/>
                <a:sym typeface="Arial"/>
              </a:rPr>
              <a:t>Streamlit :</a:t>
            </a:r>
            <a:r>
              <a:rPr lang="fr" sz="1100">
                <a:latin typeface="Arial"/>
                <a:ea typeface="Arial"/>
                <a:cs typeface="Arial"/>
                <a:sym typeface="Arial"/>
              </a:rPr>
              <a:t> c’est un framework Python qui lance un serveur web léger pour afficher des applications de data science (dashboards, modèles ML, visualisations).</a:t>
            </a:r>
            <a:endParaRPr sz="1100">
              <a:latin typeface="Arial"/>
              <a:ea typeface="Arial"/>
              <a:cs typeface="Arial"/>
              <a:sym typeface="Arial"/>
            </a:endParaRPr>
          </a:p>
          <a:p>
            <a:pPr indent="0" lvl="0" marL="0" rtl="0" algn="l">
              <a:spcBef>
                <a:spcPts val="1000"/>
              </a:spcBef>
              <a:spcAft>
                <a:spcPts val="1200"/>
              </a:spcAft>
              <a:buNone/>
            </a:pPr>
            <a:r>
              <a:t/>
            </a:r>
            <a:endParaRPr sz="11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AutoNum type="romanUcPeriod"/>
            </a:pPr>
            <a:r>
              <a:rPr lang="fr"/>
              <a:t>Objectifs énoncé</a:t>
            </a:r>
            <a:endParaRPr/>
          </a:p>
        </p:txBody>
      </p:sp>
      <p:sp>
        <p:nvSpPr>
          <p:cNvPr id="161" name="Google Shape;161;p17"/>
          <p:cNvSpPr txBox="1"/>
          <p:nvPr>
            <p:ph idx="1" type="body"/>
          </p:nvPr>
        </p:nvSpPr>
        <p:spPr>
          <a:xfrm>
            <a:off x="422975" y="1533050"/>
            <a:ext cx="4230900" cy="3367800"/>
          </a:xfrm>
          <a:prstGeom prst="rect">
            <a:avLst/>
          </a:prstGeom>
        </p:spPr>
        <p:txBody>
          <a:bodyPr anchorCtr="0" anchor="t" bIns="91425" lIns="91425" spcFirstLastPara="1" rIns="91425" wrap="square" tIns="91425">
            <a:normAutofit fontScale="77500" lnSpcReduction="20000"/>
          </a:bodyPr>
          <a:lstStyle/>
          <a:p>
            <a:pPr indent="-305115" lvl="0" marL="457200" rtl="0" algn="l">
              <a:spcBef>
                <a:spcPts val="0"/>
              </a:spcBef>
              <a:spcAft>
                <a:spcPts val="0"/>
              </a:spcAft>
              <a:buClr>
                <a:srgbClr val="F0F6FC"/>
              </a:buClr>
              <a:buSzPct val="100000"/>
              <a:buFont typeface="Arial"/>
              <a:buChar char="●"/>
            </a:pPr>
            <a:r>
              <a:rPr lang="fr" sz="1554">
                <a:solidFill>
                  <a:srgbClr val="F0F6FC"/>
                </a:solidFill>
                <a:latin typeface="Arial"/>
                <a:ea typeface="Arial"/>
                <a:cs typeface="Arial"/>
                <a:sym typeface="Arial"/>
              </a:rPr>
              <a:t>Développer un jumeau numérique d'une batterie capable de prédire sa capacité ou durée de vie restante.</a:t>
            </a:r>
            <a:endParaRPr sz="1554">
              <a:solidFill>
                <a:srgbClr val="F0F6FC"/>
              </a:solidFill>
              <a:latin typeface="Arial"/>
              <a:ea typeface="Arial"/>
              <a:cs typeface="Arial"/>
              <a:sym typeface="Arial"/>
            </a:endParaRPr>
          </a:p>
          <a:p>
            <a:pPr indent="-305115" lvl="0" marL="457200" rtl="0" algn="l">
              <a:spcBef>
                <a:spcPts val="1000"/>
              </a:spcBef>
              <a:spcAft>
                <a:spcPts val="0"/>
              </a:spcAft>
              <a:buClr>
                <a:srgbClr val="F0F6FC"/>
              </a:buClr>
              <a:buSzPct val="100000"/>
              <a:buFont typeface="Arial"/>
              <a:buChar char="●"/>
            </a:pPr>
            <a:r>
              <a:rPr lang="fr" sz="1554">
                <a:solidFill>
                  <a:srgbClr val="F0F6FC"/>
                </a:solidFill>
                <a:latin typeface="Arial"/>
                <a:ea typeface="Arial"/>
                <a:cs typeface="Arial"/>
                <a:sym typeface="Arial"/>
              </a:rPr>
              <a:t>Implémenter une API REST pour exposer notre modèle d'IA prédictif.</a:t>
            </a:r>
            <a:endParaRPr sz="1554">
              <a:solidFill>
                <a:srgbClr val="F0F6FC"/>
              </a:solidFill>
              <a:latin typeface="Arial"/>
              <a:ea typeface="Arial"/>
              <a:cs typeface="Arial"/>
              <a:sym typeface="Arial"/>
            </a:endParaRPr>
          </a:p>
          <a:p>
            <a:pPr indent="-305115" lvl="0" marL="457200" rtl="0" algn="l">
              <a:spcBef>
                <a:spcPts val="1000"/>
              </a:spcBef>
              <a:spcAft>
                <a:spcPts val="0"/>
              </a:spcAft>
              <a:buClr>
                <a:srgbClr val="F0F6FC"/>
              </a:buClr>
              <a:buSzPct val="100000"/>
              <a:buFont typeface="Arial"/>
              <a:buChar char="●"/>
            </a:pPr>
            <a:r>
              <a:rPr lang="fr" sz="1554">
                <a:solidFill>
                  <a:srgbClr val="F0F6FC"/>
                </a:solidFill>
                <a:latin typeface="Arial"/>
                <a:ea typeface="Arial"/>
                <a:cs typeface="Arial"/>
                <a:sym typeface="Arial"/>
              </a:rPr>
              <a:t>Créer une IHM interactive et animée pour simuler ou superviser les performances de la batterie en temps réel.</a:t>
            </a:r>
            <a:endParaRPr sz="1554">
              <a:solidFill>
                <a:srgbClr val="F0F6FC"/>
              </a:solidFill>
              <a:latin typeface="Arial"/>
              <a:ea typeface="Arial"/>
              <a:cs typeface="Arial"/>
              <a:sym typeface="Arial"/>
            </a:endParaRPr>
          </a:p>
          <a:p>
            <a:pPr indent="-305115" lvl="0" marL="457200" rtl="0" algn="l">
              <a:spcBef>
                <a:spcPts val="1000"/>
              </a:spcBef>
              <a:spcAft>
                <a:spcPts val="0"/>
              </a:spcAft>
              <a:buClr>
                <a:srgbClr val="F0F6FC"/>
              </a:buClr>
              <a:buSzPct val="100000"/>
              <a:buFont typeface="Arial"/>
              <a:buChar char="●"/>
            </a:pPr>
            <a:r>
              <a:rPr lang="fr" sz="1554">
                <a:solidFill>
                  <a:srgbClr val="F0F6FC"/>
                </a:solidFill>
                <a:latin typeface="Arial"/>
                <a:ea typeface="Arial"/>
                <a:cs typeface="Arial"/>
                <a:sym typeface="Arial"/>
              </a:rPr>
              <a:t>Utiliser un modèle de description standardisé (ex. : AAS) pour modéliser les données et les interactions avec le jumeau numérique.</a:t>
            </a:r>
            <a:endParaRPr sz="1554">
              <a:solidFill>
                <a:srgbClr val="F0F6FC"/>
              </a:solidFill>
              <a:latin typeface="Arial"/>
              <a:ea typeface="Arial"/>
              <a:cs typeface="Arial"/>
              <a:sym typeface="Arial"/>
            </a:endParaRPr>
          </a:p>
          <a:p>
            <a:pPr indent="-305115" lvl="0" marL="457200" rtl="0" algn="l">
              <a:spcBef>
                <a:spcPts val="1000"/>
              </a:spcBef>
              <a:spcAft>
                <a:spcPts val="0"/>
              </a:spcAft>
              <a:buClr>
                <a:srgbClr val="F0F6FC"/>
              </a:buClr>
              <a:buSzPct val="100000"/>
              <a:buFont typeface="Arial"/>
              <a:buChar char="●"/>
            </a:pPr>
            <a:r>
              <a:rPr lang="fr" sz="1554">
                <a:solidFill>
                  <a:srgbClr val="F0F6FC"/>
                </a:solidFill>
                <a:latin typeface="Arial"/>
                <a:ea typeface="Arial"/>
                <a:cs typeface="Arial"/>
                <a:sym typeface="Arial"/>
              </a:rPr>
              <a:t>Apprendre à utiliser Streamlit pour créer un tableau de bord interactif et visualiser les données.</a:t>
            </a:r>
            <a:endParaRPr sz="1554">
              <a:solidFill>
                <a:srgbClr val="F0F6FC"/>
              </a:solidFill>
              <a:latin typeface="Arial"/>
              <a:ea typeface="Arial"/>
              <a:cs typeface="Arial"/>
              <a:sym typeface="Arial"/>
            </a:endParaRPr>
          </a:p>
          <a:p>
            <a:pPr indent="0" lvl="0" marL="457200" rtl="0" algn="l">
              <a:spcBef>
                <a:spcPts val="1200"/>
              </a:spcBef>
              <a:spcAft>
                <a:spcPts val="1200"/>
              </a:spcAft>
              <a:buNone/>
            </a:pPr>
            <a:r>
              <a:t/>
            </a:r>
            <a:endParaRPr/>
          </a:p>
        </p:txBody>
      </p:sp>
      <p:pic>
        <p:nvPicPr>
          <p:cNvPr id="162" name="Google Shape;162;p17"/>
          <p:cNvPicPr preferRelativeResize="0"/>
          <p:nvPr/>
        </p:nvPicPr>
        <p:blipFill>
          <a:blip r:embed="rId3">
            <a:alphaModFix/>
          </a:blip>
          <a:stretch>
            <a:fillRect/>
          </a:stretch>
        </p:blipFill>
        <p:spPr>
          <a:xfrm>
            <a:off x="4720550" y="2067363"/>
            <a:ext cx="1762125" cy="1232250"/>
          </a:xfrm>
          <a:prstGeom prst="rect">
            <a:avLst/>
          </a:prstGeom>
          <a:noFill/>
          <a:ln>
            <a:noFill/>
          </a:ln>
        </p:spPr>
      </p:pic>
      <p:pic>
        <p:nvPicPr>
          <p:cNvPr id="163" name="Google Shape;163;p17"/>
          <p:cNvPicPr preferRelativeResize="0"/>
          <p:nvPr/>
        </p:nvPicPr>
        <p:blipFill rotWithShape="1">
          <a:blip r:embed="rId4">
            <a:alphaModFix/>
          </a:blip>
          <a:srcRect b="0" l="0" r="0" t="26297"/>
          <a:stretch/>
        </p:blipFill>
        <p:spPr>
          <a:xfrm>
            <a:off x="4720550" y="875504"/>
            <a:ext cx="2621101" cy="1086649"/>
          </a:xfrm>
          <a:prstGeom prst="rect">
            <a:avLst/>
          </a:prstGeom>
          <a:noFill/>
          <a:ln>
            <a:noFill/>
          </a:ln>
        </p:spPr>
      </p:pic>
      <p:pic>
        <p:nvPicPr>
          <p:cNvPr id="164" name="Google Shape;164;p17"/>
          <p:cNvPicPr preferRelativeResize="0"/>
          <p:nvPr/>
        </p:nvPicPr>
        <p:blipFill>
          <a:blip r:embed="rId5">
            <a:alphaModFix/>
          </a:blip>
          <a:stretch>
            <a:fillRect/>
          </a:stretch>
        </p:blipFill>
        <p:spPr>
          <a:xfrm>
            <a:off x="4720550" y="3404825"/>
            <a:ext cx="2257425" cy="1528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1282800" y="3888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II. A</a:t>
            </a:r>
            <a:r>
              <a:rPr lang="fr"/>
              <a:t>pproche holistique, Architecture</a:t>
            </a:r>
            <a:endParaRPr/>
          </a:p>
        </p:txBody>
      </p:sp>
      <p:sp>
        <p:nvSpPr>
          <p:cNvPr id="170" name="Google Shape;170;p18"/>
          <p:cNvSpPr/>
          <p:nvPr/>
        </p:nvSpPr>
        <p:spPr>
          <a:xfrm>
            <a:off x="397575" y="1776483"/>
            <a:ext cx="1521600" cy="69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UTILISATEUR</a:t>
            </a:r>
            <a:endParaRPr>
              <a:latin typeface="Lato"/>
              <a:ea typeface="Lato"/>
              <a:cs typeface="Lato"/>
              <a:sym typeface="Lato"/>
            </a:endParaRPr>
          </a:p>
        </p:txBody>
      </p:sp>
      <p:sp>
        <p:nvSpPr>
          <p:cNvPr id="171" name="Google Shape;171;p18"/>
          <p:cNvSpPr/>
          <p:nvPr/>
        </p:nvSpPr>
        <p:spPr>
          <a:xfrm>
            <a:off x="3862675" y="1776483"/>
            <a:ext cx="750600" cy="69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IHM</a:t>
            </a:r>
            <a:endParaRPr>
              <a:latin typeface="Lato"/>
              <a:ea typeface="Lato"/>
              <a:cs typeface="Lato"/>
              <a:sym typeface="Lato"/>
            </a:endParaRPr>
          </a:p>
        </p:txBody>
      </p:sp>
      <p:sp>
        <p:nvSpPr>
          <p:cNvPr id="172" name="Google Shape;172;p18"/>
          <p:cNvSpPr/>
          <p:nvPr/>
        </p:nvSpPr>
        <p:spPr>
          <a:xfrm>
            <a:off x="6672988" y="1776471"/>
            <a:ext cx="750600" cy="69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AAS</a:t>
            </a:r>
            <a:endParaRPr>
              <a:latin typeface="Lato"/>
              <a:ea typeface="Lato"/>
              <a:cs typeface="Lato"/>
              <a:sym typeface="Lato"/>
            </a:endParaRPr>
          </a:p>
        </p:txBody>
      </p:sp>
      <p:sp>
        <p:nvSpPr>
          <p:cNvPr id="173" name="Google Shape;173;p18"/>
          <p:cNvSpPr/>
          <p:nvPr/>
        </p:nvSpPr>
        <p:spPr>
          <a:xfrm>
            <a:off x="1919150" y="2024275"/>
            <a:ext cx="1943700" cy="1962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4" name="Google Shape;174;p18"/>
          <p:cNvSpPr/>
          <p:nvPr/>
        </p:nvSpPr>
        <p:spPr>
          <a:xfrm>
            <a:off x="4613275" y="2024275"/>
            <a:ext cx="2032800" cy="1962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5" name="Google Shape;175;p18"/>
          <p:cNvSpPr/>
          <p:nvPr/>
        </p:nvSpPr>
        <p:spPr>
          <a:xfrm>
            <a:off x="4791154" y="1396500"/>
            <a:ext cx="1076100" cy="396900"/>
          </a:xfrm>
          <a:prstGeom prst="wedgeRoundRectCallout">
            <a:avLst>
              <a:gd fmla="val 27822" name="adj1"/>
              <a:gd fmla="val 120534" name="adj2"/>
              <a:gd fmla="val 0" name="adj3"/>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API REST : PUT / GET</a:t>
            </a:r>
            <a:endParaRPr>
              <a:latin typeface="Lato"/>
              <a:ea typeface="Lato"/>
              <a:cs typeface="Lato"/>
              <a:sym typeface="Lato"/>
            </a:endParaRPr>
          </a:p>
        </p:txBody>
      </p:sp>
      <p:sp>
        <p:nvSpPr>
          <p:cNvPr id="176" name="Google Shape;176;p18"/>
          <p:cNvSpPr txBox="1"/>
          <p:nvPr/>
        </p:nvSpPr>
        <p:spPr>
          <a:xfrm>
            <a:off x="431900" y="3165600"/>
            <a:ext cx="7823100" cy="19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Checklist à suivre pour que l’on puisse lancer une prédiction de la RUL :</a:t>
            </a:r>
            <a:endParaRPr sz="1300">
              <a:solidFill>
                <a:schemeClr val="lt1"/>
              </a:solidFill>
              <a:latin typeface="Lato"/>
              <a:ea typeface="Lato"/>
              <a:cs typeface="Lato"/>
              <a:sym typeface="Lato"/>
            </a:endParaRPr>
          </a:p>
          <a:p>
            <a:pPr indent="-311150" lvl="0" marL="457200" rtl="0" algn="l">
              <a:spcBef>
                <a:spcPts val="1000"/>
              </a:spcBef>
              <a:spcAft>
                <a:spcPts val="0"/>
              </a:spcAft>
              <a:buClr>
                <a:schemeClr val="lt1"/>
              </a:buClr>
              <a:buSzPts val="1300"/>
              <a:buFont typeface="Lato"/>
              <a:buAutoNum type="arabicPeriod"/>
            </a:pPr>
            <a:r>
              <a:rPr lang="fr" sz="1300">
                <a:solidFill>
                  <a:schemeClr val="lt1"/>
                </a:solidFill>
                <a:latin typeface="Lato"/>
                <a:ea typeface="Lato"/>
                <a:cs typeface="Lato"/>
                <a:sym typeface="Lato"/>
              </a:rPr>
              <a:t>Lancer le docker</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AutoNum type="arabicPeriod"/>
            </a:pPr>
            <a:r>
              <a:rPr lang="fr" sz="1300">
                <a:solidFill>
                  <a:schemeClr val="lt1"/>
                </a:solidFill>
                <a:latin typeface="Lato"/>
                <a:ea typeface="Lato"/>
                <a:cs typeface="Lato"/>
                <a:sym typeface="Lato"/>
              </a:rPr>
              <a:t>On upload notre fichier AAS sur le serveur via Basyx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AutoNum type="arabicPeriod"/>
            </a:pPr>
            <a:r>
              <a:rPr lang="fr" sz="1300">
                <a:solidFill>
                  <a:schemeClr val="lt1"/>
                </a:solidFill>
                <a:latin typeface="Lato"/>
                <a:ea typeface="Lato"/>
                <a:cs typeface="Lato"/>
                <a:sym typeface="Lato"/>
              </a:rPr>
              <a:t>Dans le terminal on run streamlit </a:t>
            </a:r>
            <a:r>
              <a:rPr lang="fr" sz="1300" u="sng">
                <a:solidFill>
                  <a:schemeClr val="hlink"/>
                </a:solidFill>
                <a:latin typeface="Lato"/>
                <a:ea typeface="Lato"/>
                <a:cs typeface="Lato"/>
                <a:sym typeface="Lato"/>
                <a:hlinkClick r:id="rId3"/>
              </a:rPr>
              <a:t>main.py</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AutoNum type="arabicPeriod"/>
            </a:pPr>
            <a:r>
              <a:rPr lang="fr" sz="1300">
                <a:solidFill>
                  <a:schemeClr val="lt1"/>
                </a:solidFill>
                <a:latin typeface="Lato"/>
                <a:ea typeface="Lato"/>
                <a:cs typeface="Lato"/>
                <a:sym typeface="Lato"/>
              </a:rPr>
              <a:t>Ce code “</a:t>
            </a:r>
            <a:r>
              <a:rPr lang="fr" sz="1300" u="sng">
                <a:solidFill>
                  <a:schemeClr val="hlink"/>
                </a:solidFill>
                <a:latin typeface="Lato"/>
                <a:ea typeface="Lato"/>
                <a:cs typeface="Lato"/>
                <a:sym typeface="Lato"/>
                <a:hlinkClick r:id="rId4"/>
              </a:rPr>
              <a:t>main.py</a:t>
            </a:r>
            <a:r>
              <a:rPr lang="fr" sz="1300">
                <a:solidFill>
                  <a:schemeClr val="lt1"/>
                </a:solidFill>
                <a:latin typeface="Lato"/>
                <a:ea typeface="Lato"/>
                <a:cs typeface="Lato"/>
                <a:sym typeface="Lato"/>
              </a:rPr>
              <a:t>” va appeler les fichiers “aas_requests.py” et “prediction_module.py”</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AutoNum type="arabicPeriod"/>
            </a:pPr>
            <a:r>
              <a:rPr lang="fr" sz="1300">
                <a:solidFill>
                  <a:schemeClr val="lt1"/>
                </a:solidFill>
                <a:latin typeface="Lato"/>
                <a:ea typeface="Lato"/>
                <a:cs typeface="Lato"/>
                <a:sym typeface="Lato"/>
              </a:rPr>
              <a:t>On entre des paramètres dans l’IHM (par exemple : température, voltage, capacité) et cela nous renvoie la RUL.</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177" name="Google Shape;177;p18"/>
          <p:cNvSpPr/>
          <p:nvPr/>
        </p:nvSpPr>
        <p:spPr>
          <a:xfrm>
            <a:off x="3715850" y="2571750"/>
            <a:ext cx="1779900" cy="531900"/>
          </a:xfrm>
          <a:prstGeom prst="wedgeRoundRectCallout">
            <a:avLst>
              <a:gd fmla="val -20532" name="adj1"/>
              <a:gd fmla="val -68927" name="adj2"/>
              <a:gd fmla="val 0" name="adj3"/>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HOST SERVEUR via </a:t>
            </a:r>
            <a:r>
              <a:rPr lang="fr">
                <a:latin typeface="Lato"/>
                <a:ea typeface="Lato"/>
                <a:cs typeface="Lato"/>
                <a:sym typeface="Lato"/>
              </a:rPr>
              <a:t>S</a:t>
            </a:r>
            <a:r>
              <a:rPr lang="fr">
                <a:latin typeface="Lato"/>
                <a:ea typeface="Lato"/>
                <a:cs typeface="Lato"/>
                <a:sym typeface="Lato"/>
              </a:rPr>
              <a:t>TREAMLIT</a:t>
            </a:r>
            <a:endParaRPr>
              <a:latin typeface="Lato"/>
              <a:ea typeface="Lato"/>
              <a:cs typeface="Lato"/>
              <a:sym typeface="Lato"/>
            </a:endParaRPr>
          </a:p>
        </p:txBody>
      </p:sp>
      <p:sp>
        <p:nvSpPr>
          <p:cNvPr id="178" name="Google Shape;178;p18"/>
          <p:cNvSpPr/>
          <p:nvPr/>
        </p:nvSpPr>
        <p:spPr>
          <a:xfrm>
            <a:off x="6528750" y="819608"/>
            <a:ext cx="1295100" cy="731400"/>
          </a:xfrm>
          <a:prstGeom prst="wedgeRoundRectCallout">
            <a:avLst>
              <a:gd fmla="val -20833" name="adj1"/>
              <a:gd fmla="val 62500" name="adj2"/>
              <a:gd fmla="val 0" name="adj3"/>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HOST SERVEUR via BASYX</a:t>
            </a:r>
            <a:endParaRPr>
              <a:latin typeface="Lato"/>
              <a:ea typeface="Lato"/>
              <a:cs typeface="Lato"/>
              <a:sym typeface="Lato"/>
            </a:endParaRPr>
          </a:p>
        </p:txBody>
      </p:sp>
      <p:sp>
        <p:nvSpPr>
          <p:cNvPr id="179" name="Google Shape;179;p18"/>
          <p:cNvSpPr/>
          <p:nvPr/>
        </p:nvSpPr>
        <p:spPr>
          <a:xfrm>
            <a:off x="2243363" y="1229258"/>
            <a:ext cx="1295100" cy="731400"/>
          </a:xfrm>
          <a:prstGeom prst="wedgeRoundRectCallout">
            <a:avLst>
              <a:gd fmla="val -20833" name="adj1"/>
              <a:gd fmla="val 62500" name="adj2"/>
              <a:gd fmla="val 0" name="adj3"/>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Test et Renvoie de la RUL </a:t>
            </a:r>
            <a:endParaRPr>
              <a:latin typeface="Lato"/>
              <a:ea typeface="Lato"/>
              <a:cs typeface="Lato"/>
              <a:sym typeface="Lato"/>
            </a:endParaRPr>
          </a:p>
        </p:txBody>
      </p:sp>
      <p:sp>
        <p:nvSpPr>
          <p:cNvPr id="180" name="Google Shape;180;p18"/>
          <p:cNvSpPr/>
          <p:nvPr/>
        </p:nvSpPr>
        <p:spPr>
          <a:xfrm>
            <a:off x="8143825" y="1776483"/>
            <a:ext cx="953100" cy="69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SIMU</a:t>
            </a:r>
            <a:endParaRPr>
              <a:latin typeface="Lato"/>
              <a:ea typeface="Lato"/>
              <a:cs typeface="Lato"/>
              <a:sym typeface="Lato"/>
            </a:endParaRPr>
          </a:p>
        </p:txBody>
      </p:sp>
      <p:sp>
        <p:nvSpPr>
          <p:cNvPr id="181" name="Google Shape;181;p18"/>
          <p:cNvSpPr/>
          <p:nvPr/>
        </p:nvSpPr>
        <p:spPr>
          <a:xfrm>
            <a:off x="7450525" y="2024275"/>
            <a:ext cx="693300" cy="1962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2" name="Google Shape;182;p18"/>
          <p:cNvSpPr/>
          <p:nvPr/>
        </p:nvSpPr>
        <p:spPr>
          <a:xfrm>
            <a:off x="7450488" y="2354050"/>
            <a:ext cx="639600" cy="531900"/>
          </a:xfrm>
          <a:prstGeom prst="wedgeRoundRectCallout">
            <a:avLst>
              <a:gd fmla="val 15293" name="adj1"/>
              <a:gd fmla="val -81533" name="adj2"/>
              <a:gd fmla="val 0" name="adj3"/>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PUT</a:t>
            </a:r>
            <a:endParaRPr>
              <a:latin typeface="Lato"/>
              <a:ea typeface="Lato"/>
              <a:cs typeface="Lato"/>
              <a:sym typeface="Lato"/>
            </a:endParaRPr>
          </a:p>
        </p:txBody>
      </p:sp>
      <p:sp>
        <p:nvSpPr>
          <p:cNvPr id="183" name="Google Shape;183;p18"/>
          <p:cNvSpPr/>
          <p:nvPr/>
        </p:nvSpPr>
        <p:spPr>
          <a:xfrm>
            <a:off x="3477175" y="859225"/>
            <a:ext cx="1521600" cy="396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Prediction RUL</a:t>
            </a:r>
            <a:endParaRPr>
              <a:latin typeface="Lato"/>
              <a:ea typeface="Lato"/>
              <a:cs typeface="Lato"/>
              <a:sym typeface="Lato"/>
            </a:endParaRPr>
          </a:p>
        </p:txBody>
      </p:sp>
      <p:sp>
        <p:nvSpPr>
          <p:cNvPr id="184" name="Google Shape;184;p18"/>
          <p:cNvSpPr/>
          <p:nvPr/>
        </p:nvSpPr>
        <p:spPr>
          <a:xfrm>
            <a:off x="4791154" y="1396500"/>
            <a:ext cx="1076100" cy="396900"/>
          </a:xfrm>
          <a:prstGeom prst="wedgeRoundRectCallout">
            <a:avLst>
              <a:gd fmla="val -94213" name="adj1"/>
              <a:gd fmla="val -32433" name="adj2"/>
              <a:gd fmla="val 0" name="adj3"/>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Lato"/>
                <a:ea typeface="Lato"/>
                <a:cs typeface="Lato"/>
                <a:sym typeface="Lato"/>
              </a:rPr>
              <a:t>API REST : PUT / GET</a:t>
            </a:r>
            <a:endParaRPr>
              <a:latin typeface="Lato"/>
              <a:ea typeface="Lato"/>
              <a:cs typeface="Lato"/>
              <a:sym typeface="Lato"/>
            </a:endParaRPr>
          </a:p>
        </p:txBody>
      </p:sp>
      <p:sp>
        <p:nvSpPr>
          <p:cNvPr id="185" name="Google Shape;185;p18"/>
          <p:cNvSpPr/>
          <p:nvPr/>
        </p:nvSpPr>
        <p:spPr>
          <a:xfrm rot="5400000">
            <a:off x="4002025" y="1418188"/>
            <a:ext cx="471900" cy="1962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II. 	Approche globale - Données </a:t>
            </a:r>
            <a:r>
              <a:rPr lang="fr"/>
              <a:t>d'entraînement</a:t>
            </a:r>
            <a:r>
              <a:rPr lang="fr"/>
              <a:t> à notre disposition</a:t>
            </a:r>
            <a:endParaRPr/>
          </a:p>
        </p:txBody>
      </p:sp>
      <p:sp>
        <p:nvSpPr>
          <p:cNvPr id="191" name="Google Shape;191;p19"/>
          <p:cNvSpPr txBox="1"/>
          <p:nvPr>
            <p:ph idx="1" type="body"/>
          </p:nvPr>
        </p:nvSpPr>
        <p:spPr>
          <a:xfrm>
            <a:off x="183075" y="1615175"/>
            <a:ext cx="6227400" cy="2911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a:t>Information du README:</a:t>
            </a:r>
            <a:endParaRPr/>
          </a:p>
          <a:p>
            <a:pPr indent="-304958" lvl="0" marL="457200" rtl="0" algn="l">
              <a:spcBef>
                <a:spcPts val="1200"/>
              </a:spcBef>
              <a:spcAft>
                <a:spcPts val="0"/>
              </a:spcAft>
              <a:buSzPct val="100000"/>
              <a:buChar char="●"/>
            </a:pPr>
            <a:r>
              <a:rPr lang="fr"/>
              <a:t>4 batteries Li-ion (5, 6, 7, 18) testées sous 3 profiles opérationnels: charge, décharge et impédance (dans notre fichier discharge.csv pour entrainer notre modèle, on a que les informations concernant la décharge)</a:t>
            </a:r>
            <a:endParaRPr/>
          </a:p>
          <a:p>
            <a:pPr indent="-304958" lvl="0" marL="457200" rtl="0" algn="l">
              <a:spcBef>
                <a:spcPts val="1000"/>
              </a:spcBef>
              <a:spcAft>
                <a:spcPts val="0"/>
              </a:spcAft>
              <a:buSzPct val="100000"/>
              <a:buChar char="●"/>
            </a:pPr>
            <a:r>
              <a:rPr lang="fr"/>
              <a:t>Fichier discharge.csv</a:t>
            </a:r>
            <a:endParaRPr/>
          </a:p>
          <a:p>
            <a:pPr indent="-304958" lvl="0" marL="457200" rtl="0" algn="l">
              <a:spcBef>
                <a:spcPts val="1000"/>
              </a:spcBef>
              <a:spcAft>
                <a:spcPts val="0"/>
              </a:spcAft>
              <a:buSzPct val="100000"/>
              <a:buChar char="●"/>
            </a:pPr>
            <a:r>
              <a:rPr lang="fr"/>
              <a:t> profil décharge: courant continu de 2A jusqu’</a:t>
            </a:r>
            <a:r>
              <a:rPr lang="fr"/>
              <a:t>à ce que le voltage de la batterie atteigne 2.7V, 2.5V, 2.2V </a:t>
            </a:r>
            <a:r>
              <a:rPr lang="fr"/>
              <a:t>et 2.5V </a:t>
            </a:r>
            <a:r>
              <a:rPr lang="fr"/>
              <a:t>respectivement</a:t>
            </a:r>
            <a:endParaRPr/>
          </a:p>
          <a:p>
            <a:pPr indent="-304958" lvl="0" marL="457200" rtl="0" algn="l">
              <a:spcBef>
                <a:spcPts val="1000"/>
              </a:spcBef>
              <a:spcAft>
                <a:spcPts val="0"/>
              </a:spcAft>
              <a:buSzPct val="100000"/>
              <a:buChar char="●"/>
            </a:pPr>
            <a:r>
              <a:rPr lang="fr"/>
              <a:t>critère fin de vie pour l’expérience: baisse de 30% en capacité nominale (environ 2Ah à environ 1.4Ah)</a:t>
            </a:r>
            <a:endParaRPr/>
          </a:p>
          <a:p>
            <a:pPr indent="-304958" lvl="0" marL="457200" rtl="0" algn="l">
              <a:spcBef>
                <a:spcPts val="1000"/>
              </a:spcBef>
              <a:spcAft>
                <a:spcPts val="1000"/>
              </a:spcAft>
              <a:buSzPct val="100000"/>
              <a:buChar char="●"/>
            </a:pPr>
            <a:r>
              <a:rPr lang="fr"/>
              <a:t>On définit notre </a:t>
            </a:r>
            <a:r>
              <a:rPr lang="fr">
                <a:solidFill>
                  <a:srgbClr val="FF0000"/>
                </a:solidFill>
              </a:rPr>
              <a:t>EOL(end of life) = 80% de la capacité maximale d’une batterie pour la prédiction de la RUL</a:t>
            </a:r>
            <a:endParaRPr>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III. </a:t>
            </a:r>
            <a:r>
              <a:rPr lang="fr"/>
              <a:t>Modèle IA de la batterie - Processus</a:t>
            </a:r>
            <a:endParaRPr/>
          </a:p>
        </p:txBody>
      </p:sp>
      <p:pic>
        <p:nvPicPr>
          <p:cNvPr id="197" name="Google Shape;197;p20" title="GPT image-2026-01-19-11_00_00.png"/>
          <p:cNvPicPr preferRelativeResize="0"/>
          <p:nvPr/>
        </p:nvPicPr>
        <p:blipFill rotWithShape="1">
          <a:blip r:embed="rId3">
            <a:alphaModFix/>
          </a:blip>
          <a:srcRect b="32738" l="0" r="0" t="16379"/>
          <a:stretch/>
        </p:blipFill>
        <p:spPr>
          <a:xfrm>
            <a:off x="552450" y="1536475"/>
            <a:ext cx="8134349" cy="27593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type="title"/>
          </p:nvPr>
        </p:nvSpPr>
        <p:spPr>
          <a:xfrm>
            <a:off x="1297500" y="393750"/>
            <a:ext cx="77226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III. Mod</a:t>
            </a:r>
            <a:r>
              <a:rPr lang="fr"/>
              <a:t>èle IA de la batterie - Analyse et </a:t>
            </a:r>
            <a:r>
              <a:rPr lang="fr"/>
              <a:t>visualisation</a:t>
            </a:r>
            <a:endParaRPr/>
          </a:p>
        </p:txBody>
      </p:sp>
      <p:sp>
        <p:nvSpPr>
          <p:cNvPr id="203" name="Google Shape;203;p21"/>
          <p:cNvSpPr txBox="1"/>
          <p:nvPr>
            <p:ph idx="1" type="body"/>
          </p:nvPr>
        </p:nvSpPr>
        <p:spPr>
          <a:xfrm>
            <a:off x="1297500" y="12223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Données provenant du fichier “discharge.csv” :</a:t>
            </a:r>
            <a:endParaRPr/>
          </a:p>
        </p:txBody>
      </p:sp>
      <p:pic>
        <p:nvPicPr>
          <p:cNvPr id="204" name="Google Shape;204;p21"/>
          <p:cNvPicPr preferRelativeResize="0"/>
          <p:nvPr/>
        </p:nvPicPr>
        <p:blipFill>
          <a:blip r:embed="rId3">
            <a:alphaModFix/>
          </a:blip>
          <a:stretch>
            <a:fillRect/>
          </a:stretch>
        </p:blipFill>
        <p:spPr>
          <a:xfrm>
            <a:off x="311700" y="1778925"/>
            <a:ext cx="8520600" cy="3062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5833"/>
              <a:buFont typeface="Arial"/>
              <a:buNone/>
            </a:pPr>
            <a:r>
              <a:rPr lang="fr"/>
              <a:t>Modèle IA de la batterie-Analyse et visualisation</a:t>
            </a:r>
            <a:endParaRPr/>
          </a:p>
        </p:txBody>
      </p:sp>
      <p:sp>
        <p:nvSpPr>
          <p:cNvPr id="210" name="Google Shape;210;p22"/>
          <p:cNvSpPr txBox="1"/>
          <p:nvPr>
            <p:ph idx="1" type="body"/>
          </p:nvPr>
        </p:nvSpPr>
        <p:spPr>
          <a:xfrm rot="-5400000">
            <a:off x="701250" y="2327775"/>
            <a:ext cx="2322300" cy="3339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fr">
                <a:solidFill>
                  <a:srgbClr val="999999"/>
                </a:solidFill>
              </a:rPr>
              <a:t>capacité batterie (Ah)</a:t>
            </a:r>
            <a:endParaRPr>
              <a:solidFill>
                <a:srgbClr val="999999"/>
              </a:solidFill>
            </a:endParaRPr>
          </a:p>
        </p:txBody>
      </p:sp>
      <p:pic>
        <p:nvPicPr>
          <p:cNvPr id="211" name="Google Shape;211;p22"/>
          <p:cNvPicPr preferRelativeResize="0"/>
          <p:nvPr/>
        </p:nvPicPr>
        <p:blipFill>
          <a:blip r:embed="rId3">
            <a:alphaModFix/>
          </a:blip>
          <a:stretch>
            <a:fillRect/>
          </a:stretch>
        </p:blipFill>
        <p:spPr>
          <a:xfrm>
            <a:off x="2099801" y="1142650"/>
            <a:ext cx="4944376" cy="3924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3"/>
          <p:cNvSpPr txBox="1"/>
          <p:nvPr>
            <p:ph type="title"/>
          </p:nvPr>
        </p:nvSpPr>
        <p:spPr>
          <a:xfrm>
            <a:off x="806550" y="168425"/>
            <a:ext cx="6994500" cy="85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Modèle IA de la batterie </a:t>
            </a:r>
            <a:r>
              <a:rPr lang="fr"/>
              <a:t>- Sélection des données</a:t>
            </a:r>
            <a:endParaRPr/>
          </a:p>
        </p:txBody>
      </p:sp>
      <p:sp>
        <p:nvSpPr>
          <p:cNvPr id="217" name="Google Shape;217;p23"/>
          <p:cNvSpPr txBox="1"/>
          <p:nvPr>
            <p:ph idx="1" type="body"/>
          </p:nvPr>
        </p:nvSpPr>
        <p:spPr>
          <a:xfrm>
            <a:off x="111675" y="1713150"/>
            <a:ext cx="3203100" cy="2510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On utilise la </a:t>
            </a:r>
            <a:r>
              <a:rPr b="1" lang="fr">
                <a:solidFill>
                  <a:srgbClr val="FF0000"/>
                </a:solidFill>
              </a:rPr>
              <a:t>Matrice de </a:t>
            </a:r>
            <a:r>
              <a:rPr b="1" lang="fr">
                <a:solidFill>
                  <a:srgbClr val="FF0000"/>
                </a:solidFill>
              </a:rPr>
              <a:t>corrélation</a:t>
            </a:r>
            <a:r>
              <a:rPr lang="fr"/>
              <a:t> afin de voir quels </a:t>
            </a:r>
            <a:r>
              <a:rPr lang="fr"/>
              <a:t>paramètres</a:t>
            </a:r>
            <a:r>
              <a:rPr lang="fr"/>
              <a:t> sont </a:t>
            </a:r>
            <a:r>
              <a:rPr lang="fr"/>
              <a:t>corrélés</a:t>
            </a:r>
            <a:r>
              <a:rPr lang="fr"/>
              <a:t> et peuvent </a:t>
            </a:r>
            <a:r>
              <a:rPr lang="fr"/>
              <a:t>être</a:t>
            </a:r>
            <a:r>
              <a:rPr lang="fr"/>
              <a:t> éliminés pour </a:t>
            </a:r>
            <a:r>
              <a:rPr lang="fr"/>
              <a:t>améliorer</a:t>
            </a:r>
            <a:r>
              <a:rPr lang="fr"/>
              <a:t> la performance du </a:t>
            </a:r>
            <a:r>
              <a:rPr lang="fr"/>
              <a:t>modèle.</a:t>
            </a:r>
            <a:endParaRPr/>
          </a:p>
          <a:p>
            <a:pPr indent="-311150" lvl="0" marL="457200" rtl="0" algn="l">
              <a:spcBef>
                <a:spcPts val="0"/>
              </a:spcBef>
              <a:spcAft>
                <a:spcPts val="0"/>
              </a:spcAft>
              <a:buSzPts val="1300"/>
              <a:buChar char="●"/>
            </a:pPr>
            <a:r>
              <a:rPr lang="fr"/>
              <a:t>Voltage_charge - voltage_measured </a:t>
            </a:r>
            <a:endParaRPr/>
          </a:p>
          <a:p>
            <a:pPr indent="-311150" lvl="0" marL="457200" rtl="0" algn="l">
              <a:spcBef>
                <a:spcPts val="0"/>
              </a:spcBef>
              <a:spcAft>
                <a:spcPts val="0"/>
              </a:spcAft>
              <a:buSzPts val="1300"/>
              <a:buChar char="●"/>
            </a:pPr>
            <a:r>
              <a:rPr lang="fr"/>
              <a:t>Current_charge -  current measured</a:t>
            </a:r>
            <a:endParaRPr/>
          </a:p>
        </p:txBody>
      </p:sp>
      <p:pic>
        <p:nvPicPr>
          <p:cNvPr id="218" name="Google Shape;218;p23"/>
          <p:cNvPicPr preferRelativeResize="0"/>
          <p:nvPr/>
        </p:nvPicPr>
        <p:blipFill>
          <a:blip r:embed="rId3">
            <a:alphaModFix/>
          </a:blip>
          <a:stretch>
            <a:fillRect/>
          </a:stretch>
        </p:blipFill>
        <p:spPr>
          <a:xfrm>
            <a:off x="3675675" y="843913"/>
            <a:ext cx="4887299" cy="40652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III. Modèle IA de la batterie - Sélection des données</a:t>
            </a:r>
            <a:endParaRPr/>
          </a:p>
        </p:txBody>
      </p:sp>
      <p:sp>
        <p:nvSpPr>
          <p:cNvPr id="224" name="Google Shape;224;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pd.describe pour voir variance, nuls, etc</a:t>
            </a:r>
            <a:endParaRPr/>
          </a:p>
          <a:p>
            <a:pPr indent="-298450" lvl="1" marL="914400" rtl="0" algn="l">
              <a:spcBef>
                <a:spcPts val="0"/>
              </a:spcBef>
              <a:spcAft>
                <a:spcPts val="0"/>
              </a:spcAft>
              <a:buSzPts val="1100"/>
              <a:buChar char="○"/>
            </a:pPr>
            <a:r>
              <a:rPr lang="fr"/>
              <a:t>ambient_temperature et time ont variance de 0 donc on les enl</a:t>
            </a:r>
            <a:r>
              <a:rPr lang="fr"/>
              <a:t>ève car ils ne contribuent pas à la prédiction</a:t>
            </a:r>
            <a:endParaRPr/>
          </a:p>
        </p:txBody>
      </p:sp>
      <p:pic>
        <p:nvPicPr>
          <p:cNvPr id="225" name="Google Shape;225;p24"/>
          <p:cNvPicPr preferRelativeResize="0"/>
          <p:nvPr/>
        </p:nvPicPr>
        <p:blipFill>
          <a:blip r:embed="rId3">
            <a:alphaModFix/>
          </a:blip>
          <a:stretch>
            <a:fillRect/>
          </a:stretch>
        </p:blipFill>
        <p:spPr>
          <a:xfrm>
            <a:off x="201888" y="2482844"/>
            <a:ext cx="8740227" cy="2086031"/>
          </a:xfrm>
          <a:prstGeom prst="rect">
            <a:avLst/>
          </a:prstGeom>
          <a:noFill/>
          <a:ln>
            <a:noFill/>
          </a:ln>
        </p:spPr>
      </p:pic>
      <p:cxnSp>
        <p:nvCxnSpPr>
          <p:cNvPr id="226" name="Google Shape;226;p24"/>
          <p:cNvCxnSpPr/>
          <p:nvPr/>
        </p:nvCxnSpPr>
        <p:spPr>
          <a:xfrm>
            <a:off x="7419975" y="2390775"/>
            <a:ext cx="800100" cy="2390700"/>
          </a:xfrm>
          <a:prstGeom prst="straightConnector1">
            <a:avLst/>
          </a:prstGeom>
          <a:noFill/>
          <a:ln cap="flat" cmpd="sng" w="9525">
            <a:solidFill>
              <a:srgbClr val="FF0000"/>
            </a:solidFill>
            <a:prstDash val="solid"/>
            <a:round/>
            <a:headEnd len="med" w="med" type="none"/>
            <a:tailEnd len="med" w="med" type="none"/>
          </a:ln>
        </p:spPr>
      </p:cxnSp>
      <p:cxnSp>
        <p:nvCxnSpPr>
          <p:cNvPr id="227" name="Google Shape;227;p24"/>
          <p:cNvCxnSpPr/>
          <p:nvPr/>
        </p:nvCxnSpPr>
        <p:spPr>
          <a:xfrm>
            <a:off x="8220075" y="2390775"/>
            <a:ext cx="800100" cy="2390700"/>
          </a:xfrm>
          <a:prstGeom prst="straightConnector1">
            <a:avLst/>
          </a:prstGeom>
          <a:noFill/>
          <a:ln cap="flat" cmpd="sng" w="9525">
            <a:solidFill>
              <a:srgbClr val="FF0000"/>
            </a:solidFill>
            <a:prstDash val="solid"/>
            <a:round/>
            <a:headEnd len="med" w="med" type="none"/>
            <a:tailEnd len="med" w="med" type="none"/>
          </a:ln>
        </p:spPr>
      </p:cxnSp>
      <p:cxnSp>
        <p:nvCxnSpPr>
          <p:cNvPr id="228" name="Google Shape;228;p24"/>
          <p:cNvCxnSpPr/>
          <p:nvPr/>
        </p:nvCxnSpPr>
        <p:spPr>
          <a:xfrm>
            <a:off x="3600450" y="2330513"/>
            <a:ext cx="800100" cy="2390700"/>
          </a:xfrm>
          <a:prstGeom prst="straightConnector1">
            <a:avLst/>
          </a:prstGeom>
          <a:noFill/>
          <a:ln cap="flat" cmpd="sng" w="9525">
            <a:solidFill>
              <a:srgbClr val="FF0000"/>
            </a:solidFill>
            <a:prstDash val="solid"/>
            <a:round/>
            <a:headEnd len="med" w="med" type="none"/>
            <a:tailEnd len="med" w="med" type="none"/>
          </a:ln>
        </p:spPr>
      </p:cxnSp>
      <p:cxnSp>
        <p:nvCxnSpPr>
          <p:cNvPr id="229" name="Google Shape;229;p24"/>
          <p:cNvCxnSpPr/>
          <p:nvPr/>
        </p:nvCxnSpPr>
        <p:spPr>
          <a:xfrm>
            <a:off x="4476750" y="2330513"/>
            <a:ext cx="800100" cy="23907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txBox="1"/>
          <p:nvPr>
            <p:ph type="title"/>
          </p:nvPr>
        </p:nvSpPr>
        <p:spPr>
          <a:xfrm>
            <a:off x="1081875" y="121175"/>
            <a:ext cx="3271200" cy="1509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Modèle IA de la batterie - Feature Engineering</a:t>
            </a:r>
            <a:endParaRPr/>
          </a:p>
          <a:p>
            <a:pPr indent="0" lvl="0" marL="0" rtl="0" algn="l">
              <a:spcBef>
                <a:spcPts val="0"/>
              </a:spcBef>
              <a:spcAft>
                <a:spcPts val="0"/>
              </a:spcAft>
              <a:buNone/>
            </a:pPr>
            <a:r>
              <a:t/>
            </a:r>
            <a:endParaRPr/>
          </a:p>
        </p:txBody>
      </p:sp>
      <p:sp>
        <p:nvSpPr>
          <p:cNvPr id="235" name="Google Shape;235;p25"/>
          <p:cNvSpPr txBox="1"/>
          <p:nvPr>
            <p:ph idx="1" type="body"/>
          </p:nvPr>
        </p:nvSpPr>
        <p:spPr>
          <a:xfrm>
            <a:off x="311700" y="1839925"/>
            <a:ext cx="3433200" cy="2729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Utiliser fonction SelectKBest pour classer les parametres par leur correlation sur la RUL</a:t>
            </a:r>
            <a:endParaRPr/>
          </a:p>
        </p:txBody>
      </p:sp>
      <p:pic>
        <p:nvPicPr>
          <p:cNvPr id="236" name="Google Shape;236;p25"/>
          <p:cNvPicPr preferRelativeResize="0"/>
          <p:nvPr/>
        </p:nvPicPr>
        <p:blipFill>
          <a:blip r:embed="rId3">
            <a:alphaModFix/>
          </a:blip>
          <a:stretch>
            <a:fillRect/>
          </a:stretch>
        </p:blipFill>
        <p:spPr>
          <a:xfrm>
            <a:off x="4072026" y="355550"/>
            <a:ext cx="5071975" cy="47879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Modèle IA de la batterie - Feature Splitting</a:t>
            </a:r>
            <a:endParaRPr/>
          </a:p>
        </p:txBody>
      </p:sp>
      <p:sp>
        <p:nvSpPr>
          <p:cNvPr id="242" name="Google Shape;242;p2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Diviser le jeux de données en 80% pour </a:t>
            </a:r>
            <a:r>
              <a:rPr lang="fr"/>
              <a:t>entraîner</a:t>
            </a:r>
            <a:r>
              <a:rPr lang="fr"/>
              <a:t> et 20% pour tester</a:t>
            </a:r>
            <a:endParaRPr/>
          </a:p>
        </p:txBody>
      </p:sp>
      <p:pic>
        <p:nvPicPr>
          <p:cNvPr id="243" name="Google Shape;243;p26"/>
          <p:cNvPicPr preferRelativeResize="0"/>
          <p:nvPr/>
        </p:nvPicPr>
        <p:blipFill>
          <a:blip r:embed="rId3">
            <a:alphaModFix/>
          </a:blip>
          <a:stretch>
            <a:fillRect/>
          </a:stretch>
        </p:blipFill>
        <p:spPr>
          <a:xfrm>
            <a:off x="152400" y="2248025"/>
            <a:ext cx="8886825" cy="952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1256425" y="445025"/>
            <a:ext cx="7575900" cy="923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Modèle IA de la batterie - Model Selection, Training and Evaluation</a:t>
            </a:r>
            <a:endParaRPr/>
          </a:p>
        </p:txBody>
      </p:sp>
      <p:sp>
        <p:nvSpPr>
          <p:cNvPr id="249" name="Google Shape;249;p27"/>
          <p:cNvSpPr txBox="1"/>
          <p:nvPr>
            <p:ph idx="1" type="body"/>
          </p:nvPr>
        </p:nvSpPr>
        <p:spPr>
          <a:xfrm>
            <a:off x="311700" y="1483225"/>
            <a:ext cx="8520600" cy="3085500"/>
          </a:xfrm>
          <a:prstGeom prst="rect">
            <a:avLst/>
          </a:prstGeom>
        </p:spPr>
        <p:txBody>
          <a:bodyPr anchorCtr="0" anchor="t" bIns="91425" lIns="91425" spcFirstLastPara="1" rIns="91425" wrap="square" tIns="91425">
            <a:normAutofit fontScale="92500"/>
          </a:bodyPr>
          <a:lstStyle/>
          <a:p>
            <a:pPr indent="-304958" lvl="0" marL="457200" rtl="0" algn="l">
              <a:spcBef>
                <a:spcPts val="0"/>
              </a:spcBef>
              <a:spcAft>
                <a:spcPts val="0"/>
              </a:spcAft>
              <a:buSzPct val="100000"/>
              <a:buChar char="●"/>
            </a:pPr>
            <a:r>
              <a:rPr lang="fr"/>
              <a:t>Apr</a:t>
            </a:r>
            <a:r>
              <a:rPr lang="fr"/>
              <a:t>ès avoir recherché </a:t>
            </a:r>
            <a:r>
              <a:rPr lang="fr"/>
              <a:t>méthodes</a:t>
            </a:r>
            <a:r>
              <a:rPr lang="fr"/>
              <a:t> de </a:t>
            </a:r>
            <a:r>
              <a:rPr lang="fr"/>
              <a:t>régression</a:t>
            </a:r>
            <a:r>
              <a:rPr lang="fr"/>
              <a:t>, nous avons choisi de comparer GradientBoosting et RandomForest </a:t>
            </a:r>
            <a:endParaRPr/>
          </a:p>
          <a:p>
            <a:pPr indent="-304958" lvl="0" marL="457200" rtl="0" algn="l">
              <a:spcBef>
                <a:spcPts val="0"/>
              </a:spcBef>
              <a:spcAft>
                <a:spcPts val="0"/>
              </a:spcAft>
              <a:buSzPct val="100000"/>
              <a:buChar char="●"/>
            </a:pPr>
            <a:r>
              <a:rPr lang="fr"/>
              <a:t>Nous avons testé les deux et nous avons trouvé que dans ce cas, le RandomForest avait une meilleure performance.</a:t>
            </a:r>
            <a:endParaRPr/>
          </a:p>
          <a:p>
            <a:pPr indent="-304958" lvl="0" marL="457200" rtl="0" algn="l">
              <a:spcBef>
                <a:spcPts val="0"/>
              </a:spcBef>
              <a:spcAft>
                <a:spcPts val="0"/>
              </a:spcAft>
              <a:buSzPct val="100000"/>
              <a:buChar char="●"/>
            </a:pPr>
            <a:r>
              <a:rPr lang="fr"/>
              <a:t>Nous avons utilisé les indicateurs suivants:</a:t>
            </a:r>
            <a:endParaRPr/>
          </a:p>
          <a:p>
            <a:pPr indent="0" lvl="0" marL="9144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914400" rtl="0" algn="l">
              <a:spcBef>
                <a:spcPts val="1200"/>
              </a:spcBef>
              <a:spcAft>
                <a:spcPts val="0"/>
              </a:spcAft>
              <a:buNone/>
            </a:pPr>
            <a:r>
              <a:t/>
            </a:r>
            <a:endParaRPr/>
          </a:p>
          <a:p>
            <a:pPr indent="0" lvl="0" marL="914400" rtl="0" algn="l">
              <a:spcBef>
                <a:spcPts val="1200"/>
              </a:spcBef>
              <a:spcAft>
                <a:spcPts val="1200"/>
              </a:spcAft>
              <a:buNone/>
            </a:pPr>
            <a:r>
              <a:t/>
            </a:r>
            <a:endParaRPr/>
          </a:p>
        </p:txBody>
      </p:sp>
      <p:pic>
        <p:nvPicPr>
          <p:cNvPr id="250" name="Google Shape;250;p27" title="Capture d’écran 2026-01-19 à 11.05.41.png"/>
          <p:cNvPicPr preferRelativeResize="0"/>
          <p:nvPr/>
        </p:nvPicPr>
        <p:blipFill rotWithShape="1">
          <a:blip r:embed="rId3">
            <a:alphaModFix/>
          </a:blip>
          <a:srcRect b="0" l="0" r="61249" t="0"/>
          <a:stretch/>
        </p:blipFill>
        <p:spPr>
          <a:xfrm>
            <a:off x="5793850" y="2098625"/>
            <a:ext cx="3038476" cy="2916750"/>
          </a:xfrm>
          <a:prstGeom prst="rect">
            <a:avLst/>
          </a:prstGeom>
          <a:noFill/>
          <a:ln>
            <a:noFill/>
          </a:ln>
        </p:spPr>
      </p:pic>
      <p:pic>
        <p:nvPicPr>
          <p:cNvPr id="251" name="Google Shape;251;p27" title="Capture d’écran 2026-01-19 à 14.06.02.png"/>
          <p:cNvPicPr preferRelativeResize="0"/>
          <p:nvPr/>
        </p:nvPicPr>
        <p:blipFill>
          <a:blip r:embed="rId4">
            <a:alphaModFix/>
          </a:blip>
          <a:stretch>
            <a:fillRect/>
          </a:stretch>
        </p:blipFill>
        <p:spPr>
          <a:xfrm>
            <a:off x="514350" y="2695575"/>
            <a:ext cx="2267615" cy="923100"/>
          </a:xfrm>
          <a:prstGeom prst="rect">
            <a:avLst/>
          </a:prstGeom>
          <a:noFill/>
          <a:ln>
            <a:noFill/>
          </a:ln>
        </p:spPr>
      </p:pic>
      <p:pic>
        <p:nvPicPr>
          <p:cNvPr id="252" name="Google Shape;252;p27" title="Capture d’écran 2026-01-19 à 14.07.52.png"/>
          <p:cNvPicPr preferRelativeResize="0"/>
          <p:nvPr/>
        </p:nvPicPr>
        <p:blipFill>
          <a:blip r:embed="rId5">
            <a:alphaModFix/>
          </a:blip>
          <a:stretch>
            <a:fillRect/>
          </a:stretch>
        </p:blipFill>
        <p:spPr>
          <a:xfrm>
            <a:off x="3190075" y="2676100"/>
            <a:ext cx="2329025" cy="962025"/>
          </a:xfrm>
          <a:prstGeom prst="rect">
            <a:avLst/>
          </a:prstGeom>
          <a:noFill/>
          <a:ln>
            <a:noFill/>
          </a:ln>
        </p:spPr>
      </p:pic>
      <p:pic>
        <p:nvPicPr>
          <p:cNvPr id="253" name="Google Shape;253;p27" title="Capture d’écran 2026-01-19 à 14.10.07.png"/>
          <p:cNvPicPr preferRelativeResize="0"/>
          <p:nvPr/>
        </p:nvPicPr>
        <p:blipFill>
          <a:blip r:embed="rId6">
            <a:alphaModFix/>
          </a:blip>
          <a:stretch>
            <a:fillRect/>
          </a:stretch>
        </p:blipFill>
        <p:spPr>
          <a:xfrm>
            <a:off x="514350" y="3748750"/>
            <a:ext cx="3448050" cy="1266625"/>
          </a:xfrm>
          <a:prstGeom prst="rect">
            <a:avLst/>
          </a:prstGeom>
          <a:noFill/>
          <a:ln>
            <a:noFill/>
          </a:ln>
        </p:spPr>
      </p:pic>
      <p:sp>
        <p:nvSpPr>
          <p:cNvPr id="254" name="Google Shape;254;p27"/>
          <p:cNvSpPr txBox="1"/>
          <p:nvPr/>
        </p:nvSpPr>
        <p:spPr>
          <a:xfrm>
            <a:off x="4114800" y="3952875"/>
            <a:ext cx="1276500" cy="9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R2 = coefficient de détermination</a:t>
            </a:r>
            <a:endParaRPr sz="1300">
              <a:solidFill>
                <a:schemeClr val="lt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8"/>
          <p:cNvSpPr txBox="1"/>
          <p:nvPr>
            <p:ph type="title"/>
          </p:nvPr>
        </p:nvSpPr>
        <p:spPr>
          <a:xfrm>
            <a:off x="1236800" y="445025"/>
            <a:ext cx="7595400" cy="98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Modèle IA de la batterie - Model deployment and monitoring</a:t>
            </a:r>
            <a:endParaRPr/>
          </a:p>
        </p:txBody>
      </p:sp>
      <p:sp>
        <p:nvSpPr>
          <p:cNvPr id="260" name="Google Shape;260;p28"/>
          <p:cNvSpPr txBox="1"/>
          <p:nvPr>
            <p:ph idx="1" type="body"/>
          </p:nvPr>
        </p:nvSpPr>
        <p:spPr>
          <a:xfrm>
            <a:off x="311700" y="1517725"/>
            <a:ext cx="8520600" cy="3051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Apr</a:t>
            </a:r>
            <a:r>
              <a:rPr lang="fr"/>
              <a:t>ès avoir été satisfait des évaluations du modèle, nous avons connecté le modèle et la fonction de prédiction à l’interface et l’avons testé avec input de l’humain et avec les données en temps réel</a:t>
            </a:r>
            <a:endParaRPr/>
          </a:p>
        </p:txBody>
      </p:sp>
      <p:pic>
        <p:nvPicPr>
          <p:cNvPr id="261" name="Google Shape;261;p28"/>
          <p:cNvPicPr preferRelativeResize="0"/>
          <p:nvPr/>
        </p:nvPicPr>
        <p:blipFill>
          <a:blip r:embed="rId3">
            <a:alphaModFix/>
          </a:blip>
          <a:stretch>
            <a:fillRect/>
          </a:stretch>
        </p:blipFill>
        <p:spPr>
          <a:xfrm>
            <a:off x="212025" y="2153100"/>
            <a:ext cx="6377824" cy="1880975"/>
          </a:xfrm>
          <a:prstGeom prst="rect">
            <a:avLst/>
          </a:prstGeom>
          <a:noFill/>
          <a:ln>
            <a:noFill/>
          </a:ln>
        </p:spPr>
      </p:pic>
      <p:pic>
        <p:nvPicPr>
          <p:cNvPr id="262" name="Google Shape;262;p28"/>
          <p:cNvPicPr preferRelativeResize="0"/>
          <p:nvPr/>
        </p:nvPicPr>
        <p:blipFill rotWithShape="1">
          <a:blip r:embed="rId4">
            <a:alphaModFix/>
          </a:blip>
          <a:srcRect b="3854" l="0" r="63875" t="1196"/>
          <a:stretch/>
        </p:blipFill>
        <p:spPr>
          <a:xfrm>
            <a:off x="6541800" y="2153089"/>
            <a:ext cx="2462626" cy="2631551"/>
          </a:xfrm>
          <a:prstGeom prst="rect">
            <a:avLst/>
          </a:prstGeom>
          <a:noFill/>
          <a:ln>
            <a:noFill/>
          </a:ln>
        </p:spPr>
      </p:pic>
      <p:pic>
        <p:nvPicPr>
          <p:cNvPr id="263" name="Google Shape;263;p28"/>
          <p:cNvPicPr preferRelativeResize="0"/>
          <p:nvPr/>
        </p:nvPicPr>
        <p:blipFill>
          <a:blip r:embed="rId5">
            <a:alphaModFix/>
          </a:blip>
          <a:stretch>
            <a:fillRect/>
          </a:stretch>
        </p:blipFill>
        <p:spPr>
          <a:xfrm>
            <a:off x="163975" y="4393149"/>
            <a:ext cx="6377825" cy="1758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AAS shell et Submodel</a:t>
            </a:r>
            <a:endParaRPr/>
          </a:p>
        </p:txBody>
      </p:sp>
      <p:sp>
        <p:nvSpPr>
          <p:cNvPr id="269" name="Google Shape;269;p29"/>
          <p:cNvSpPr txBox="1"/>
          <p:nvPr>
            <p:ph idx="1" type="body"/>
          </p:nvPr>
        </p:nvSpPr>
        <p:spPr>
          <a:xfrm>
            <a:off x="1025125" y="933850"/>
            <a:ext cx="8520600" cy="79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Un mod</a:t>
            </a:r>
            <a:r>
              <a:rPr lang="fr"/>
              <a:t>èle Asset </a:t>
            </a:r>
            <a:r>
              <a:rPr lang="fr"/>
              <a:t>Administration</a:t>
            </a:r>
            <a:r>
              <a:rPr lang="fr"/>
              <a:t> Shell (AAS) avec un Submodel a été créé avec AAS Explorer</a:t>
            </a:r>
            <a:endParaRPr/>
          </a:p>
          <a:p>
            <a:pPr indent="-311150" lvl="0" marL="457200" rtl="0" algn="l">
              <a:spcBef>
                <a:spcPts val="0"/>
              </a:spcBef>
              <a:spcAft>
                <a:spcPts val="0"/>
              </a:spcAft>
              <a:buSzPts val="1300"/>
              <a:buChar char="●"/>
            </a:pPr>
            <a:r>
              <a:rPr lang="fr"/>
              <a:t>Ensuite chargé au serveur Basyx, où il contient les paramètres de la batterie</a:t>
            </a:r>
            <a:endParaRPr/>
          </a:p>
        </p:txBody>
      </p:sp>
      <p:pic>
        <p:nvPicPr>
          <p:cNvPr id="270" name="Google Shape;270;p29"/>
          <p:cNvPicPr preferRelativeResize="0"/>
          <p:nvPr/>
        </p:nvPicPr>
        <p:blipFill>
          <a:blip r:embed="rId3">
            <a:alphaModFix/>
          </a:blip>
          <a:stretch>
            <a:fillRect/>
          </a:stretch>
        </p:blipFill>
        <p:spPr>
          <a:xfrm>
            <a:off x="1833675" y="1724950"/>
            <a:ext cx="5476639" cy="31137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0"/>
          <p:cNvSpPr txBox="1"/>
          <p:nvPr>
            <p:ph type="title"/>
          </p:nvPr>
        </p:nvSpPr>
        <p:spPr>
          <a:xfrm>
            <a:off x="1326975" y="231800"/>
            <a:ext cx="7038900" cy="61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Appels API</a:t>
            </a:r>
            <a:endParaRPr/>
          </a:p>
        </p:txBody>
      </p:sp>
      <p:sp>
        <p:nvSpPr>
          <p:cNvPr id="276" name="Google Shape;276;p30"/>
          <p:cNvSpPr txBox="1"/>
          <p:nvPr>
            <p:ph idx="1" type="body"/>
          </p:nvPr>
        </p:nvSpPr>
        <p:spPr>
          <a:xfrm>
            <a:off x="903050" y="919375"/>
            <a:ext cx="7929300" cy="4004400"/>
          </a:xfrm>
          <a:prstGeom prst="rect">
            <a:avLst/>
          </a:prstGeom>
        </p:spPr>
        <p:txBody>
          <a:bodyPr anchorCtr="0" anchor="t" bIns="91425" lIns="91425" spcFirstLastPara="1" rIns="91425" wrap="square" tIns="91425">
            <a:normAutofit fontScale="70000"/>
          </a:bodyPr>
          <a:lstStyle/>
          <a:p>
            <a:pPr indent="-337266" lvl="0" marL="457200" rtl="0" algn="l">
              <a:spcBef>
                <a:spcPts val="0"/>
              </a:spcBef>
              <a:spcAft>
                <a:spcPts val="0"/>
              </a:spcAft>
              <a:buSzPct val="100000"/>
              <a:buChar char="●"/>
            </a:pPr>
            <a:r>
              <a:rPr lang="fr" sz="2444"/>
              <a:t>Utilisés pour connecter l’interface au mod</a:t>
            </a:r>
            <a:r>
              <a:rPr lang="fr" sz="2444"/>
              <a:t>èle AAS</a:t>
            </a:r>
            <a:endParaRPr sz="2444"/>
          </a:p>
          <a:p>
            <a:pPr indent="-337266" lvl="0" marL="457200" rtl="0" algn="l">
              <a:spcBef>
                <a:spcPts val="0"/>
              </a:spcBef>
              <a:spcAft>
                <a:spcPts val="0"/>
              </a:spcAft>
              <a:buSzPct val="100000"/>
              <a:buChar char="●"/>
            </a:pPr>
            <a:r>
              <a:rPr lang="fr" sz="2444"/>
              <a:t>Exemples:</a:t>
            </a:r>
            <a:endParaRPr sz="2444"/>
          </a:p>
          <a:p>
            <a:pPr indent="-337266" lvl="0" marL="457200" rtl="0" algn="l">
              <a:spcBef>
                <a:spcPts val="0"/>
              </a:spcBef>
              <a:spcAft>
                <a:spcPts val="0"/>
              </a:spcAft>
              <a:buSzPct val="100000"/>
              <a:buChar char="●"/>
            </a:pPr>
            <a:r>
              <a:rPr lang="fr" sz="2444"/>
              <a:t>Charger valeur </a:t>
            </a:r>
            <a:r>
              <a:rPr lang="fr" sz="2444">
                <a:highlight>
                  <a:srgbClr val="00FF00"/>
                </a:highlight>
              </a:rPr>
              <a:t>RUL </a:t>
            </a:r>
            <a:r>
              <a:rPr lang="fr" sz="2444"/>
              <a:t>du submodel sur le serveur (PUT):</a:t>
            </a:r>
            <a:endParaRPr sz="2444"/>
          </a:p>
          <a:p>
            <a:pPr indent="0" lvl="0" marL="457200" rtl="0" algn="l">
              <a:spcBef>
                <a:spcPts val="1200"/>
              </a:spcBef>
              <a:spcAft>
                <a:spcPts val="0"/>
              </a:spcAft>
              <a:buNone/>
            </a:pPr>
            <a:r>
              <a:rPr lang="fr" sz="2444" u="sng">
                <a:solidFill>
                  <a:schemeClr val="accent5"/>
                </a:solidFill>
                <a:hlinkClick r:id="rId3">
                  <a:extLst>
                    <a:ext uri="{A12FA001-AC4F-418D-AE19-62706E023703}">
                      <ahyp:hlinkClr val="tx"/>
                    </a:ext>
                  </a:extLst>
                </a:hlinkClick>
              </a:rPr>
              <a:t>http://localhost:8081/submodels/</a:t>
            </a:r>
            <a:r>
              <a:rPr lang="fr" sz="2444" u="sng">
                <a:solidFill>
                  <a:schemeClr val="accent5"/>
                </a:solidFill>
                <a:highlight>
                  <a:schemeClr val="accent4"/>
                </a:highlight>
                <a:hlinkClick r:id="rId4">
                  <a:extLst>
                    <a:ext uri="{A12FA001-AC4F-418D-AE19-62706E023703}">
                      <ahyp:hlinkClr val="tx"/>
                    </a:ext>
                  </a:extLst>
                </a:hlinkClick>
              </a:rPr>
              <a:t>aHR0cHM6Ly9leGFtcGxlLmNvbS9pZHMvc20vMjA1NF80MTcxXzExNDJfMDQ3OC9TdWJtb2RlbHMvQXNzZXRzL1Rlc3RBc3NldC9CYXR0ZXJ5U00=</a:t>
            </a:r>
            <a:r>
              <a:rPr lang="fr" sz="2444" u="sng">
                <a:solidFill>
                  <a:schemeClr val="accent5"/>
                </a:solidFill>
                <a:hlinkClick r:id="rId5">
                  <a:extLst>
                    <a:ext uri="{A12FA001-AC4F-418D-AE19-62706E023703}">
                      <ahyp:hlinkClr val="tx"/>
                    </a:ext>
                  </a:extLst>
                </a:hlinkClick>
              </a:rPr>
              <a:t>/submodel-elements/</a:t>
            </a:r>
            <a:r>
              <a:rPr lang="fr" sz="2444" u="sng">
                <a:solidFill>
                  <a:schemeClr val="accent5"/>
                </a:solidFill>
                <a:highlight>
                  <a:srgbClr val="00FF00"/>
                </a:highlight>
                <a:hlinkClick r:id="rId6">
                  <a:extLst>
                    <a:ext uri="{A12FA001-AC4F-418D-AE19-62706E023703}">
                      <ahyp:hlinkClr val="tx"/>
                    </a:ext>
                  </a:extLst>
                </a:hlinkClick>
              </a:rPr>
              <a:t>RUL</a:t>
            </a:r>
            <a:r>
              <a:rPr lang="fr" sz="2444" u="sng">
                <a:solidFill>
                  <a:schemeClr val="accent5"/>
                </a:solidFill>
                <a:hlinkClick r:id="rId7">
                  <a:extLst>
                    <a:ext uri="{A12FA001-AC4F-418D-AE19-62706E023703}">
                      <ahyp:hlinkClr val="tx"/>
                    </a:ext>
                  </a:extLst>
                </a:hlinkClick>
              </a:rPr>
              <a:t>/value</a:t>
            </a:r>
            <a:endParaRPr sz="2444"/>
          </a:p>
          <a:p>
            <a:pPr indent="-337266" lvl="0" marL="457200" rtl="0" algn="l">
              <a:spcBef>
                <a:spcPts val="800"/>
              </a:spcBef>
              <a:spcAft>
                <a:spcPts val="0"/>
              </a:spcAft>
              <a:buSzPct val="100000"/>
              <a:buChar char="●"/>
            </a:pPr>
            <a:r>
              <a:rPr lang="fr" sz="2444"/>
              <a:t>Extraire la valeur </a:t>
            </a:r>
            <a:r>
              <a:rPr lang="fr" sz="2444">
                <a:highlight>
                  <a:srgbClr val="00FF00"/>
                </a:highlight>
              </a:rPr>
              <a:t>RUL </a:t>
            </a:r>
            <a:r>
              <a:rPr lang="fr" sz="2444"/>
              <a:t>du Submodel (GET):</a:t>
            </a:r>
            <a:endParaRPr sz="2444"/>
          </a:p>
          <a:p>
            <a:pPr indent="0" lvl="0" marL="457200" rtl="0" algn="l">
              <a:spcBef>
                <a:spcPts val="1200"/>
              </a:spcBef>
              <a:spcAft>
                <a:spcPts val="0"/>
              </a:spcAft>
              <a:buNone/>
            </a:pPr>
            <a:r>
              <a:rPr lang="fr" sz="2444" u="sng">
                <a:solidFill>
                  <a:schemeClr val="hlink"/>
                </a:solidFill>
                <a:hlinkClick r:id="rId8"/>
              </a:rPr>
              <a:t>http://localhost:8081/submodels/</a:t>
            </a:r>
            <a:r>
              <a:rPr lang="fr" sz="2444" u="sng">
                <a:solidFill>
                  <a:schemeClr val="hlink"/>
                </a:solidFill>
                <a:highlight>
                  <a:schemeClr val="accent4"/>
                </a:highlight>
                <a:hlinkClick r:id="rId9"/>
              </a:rPr>
              <a:t>aHR0cHM6Ly9leGFtcGxlLmNvbS9pZHMvc20vMjA1NF80MTcxXzExNDJfMDQ3OC9TdWJtb2RlbHMvQXNzZXRzL1Rlc3RBc3NldC9CYXR0ZXJ5U00=</a:t>
            </a:r>
            <a:r>
              <a:rPr lang="fr" sz="2444" u="sng">
                <a:solidFill>
                  <a:schemeClr val="hlink"/>
                </a:solidFill>
                <a:hlinkClick r:id="rId10"/>
              </a:rPr>
              <a:t>/submodel-elements/</a:t>
            </a:r>
            <a:r>
              <a:rPr lang="fr" sz="2444" u="sng">
                <a:solidFill>
                  <a:schemeClr val="hlink"/>
                </a:solidFill>
                <a:highlight>
                  <a:srgbClr val="00FF00"/>
                </a:highlight>
                <a:hlinkClick r:id="rId11"/>
              </a:rPr>
              <a:t>RUL</a:t>
            </a:r>
            <a:r>
              <a:rPr lang="fr" sz="2444" u="sng">
                <a:solidFill>
                  <a:schemeClr val="hlink"/>
                </a:solidFill>
                <a:hlinkClick r:id="rId12"/>
              </a:rPr>
              <a:t>/value</a:t>
            </a:r>
            <a:endParaRPr sz="2444" u="sng">
              <a:solidFill>
                <a:schemeClr val="hlink"/>
              </a:solidFill>
            </a:endParaRPr>
          </a:p>
          <a:p>
            <a:pPr indent="0" lvl="0" marL="457200" rtl="0" algn="l">
              <a:spcBef>
                <a:spcPts val="8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Interface Humain-Machine (IHM)</a:t>
            </a:r>
            <a:endParaRPr/>
          </a:p>
        </p:txBody>
      </p:sp>
      <p:sp>
        <p:nvSpPr>
          <p:cNvPr id="282" name="Google Shape;282;p31"/>
          <p:cNvSpPr txBox="1"/>
          <p:nvPr>
            <p:ph idx="1" type="body"/>
          </p:nvPr>
        </p:nvSpPr>
        <p:spPr>
          <a:xfrm>
            <a:off x="1052550" y="3401875"/>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Streamlit a été utilisé pour créer un dashboard visuel pour les utilisateurs</a:t>
            </a:r>
            <a:endParaRPr/>
          </a:p>
          <a:p>
            <a:pPr indent="-311150" lvl="0" marL="457200" rtl="0" algn="l">
              <a:spcBef>
                <a:spcPts val="0"/>
              </a:spcBef>
              <a:spcAft>
                <a:spcPts val="0"/>
              </a:spcAft>
              <a:buSzPts val="1300"/>
              <a:buChar char="●"/>
            </a:pPr>
            <a:r>
              <a:rPr lang="fr"/>
              <a:t>Le design s’est basé sur les exigences du client:</a:t>
            </a:r>
            <a:endParaRPr/>
          </a:p>
          <a:p>
            <a:pPr indent="-298450" lvl="1" marL="914400" rtl="0" algn="l">
              <a:spcBef>
                <a:spcPts val="0"/>
              </a:spcBef>
              <a:spcAft>
                <a:spcPts val="0"/>
              </a:spcAft>
              <a:buSzPts val="1100"/>
              <a:buChar char="○"/>
            </a:pPr>
            <a:r>
              <a:rPr lang="fr"/>
              <a:t>visuel des </a:t>
            </a:r>
            <a:r>
              <a:rPr lang="fr"/>
              <a:t>valeurs</a:t>
            </a:r>
            <a:r>
              <a:rPr lang="fr"/>
              <a:t> actuelles des param</a:t>
            </a:r>
            <a:r>
              <a:rPr lang="fr"/>
              <a:t>ètres </a:t>
            </a:r>
            <a:r>
              <a:rPr lang="fr"/>
              <a:t>de la batterie (de l’AAS)</a:t>
            </a:r>
            <a:endParaRPr/>
          </a:p>
          <a:p>
            <a:pPr indent="-298450" lvl="1" marL="914400" rtl="0" algn="l">
              <a:spcBef>
                <a:spcPts val="0"/>
              </a:spcBef>
              <a:spcAft>
                <a:spcPts val="0"/>
              </a:spcAft>
              <a:buSzPts val="1100"/>
              <a:buChar char="○"/>
            </a:pPr>
            <a:r>
              <a:rPr lang="fr"/>
              <a:t>prédiction de la RUL basé sur les valeurs actuelles</a:t>
            </a:r>
            <a:endParaRPr/>
          </a:p>
          <a:p>
            <a:pPr indent="-298450" lvl="1" marL="914400" rtl="0" algn="l">
              <a:spcBef>
                <a:spcPts val="0"/>
              </a:spcBef>
              <a:spcAft>
                <a:spcPts val="0"/>
              </a:spcAft>
              <a:buSzPts val="1100"/>
              <a:buChar char="○"/>
            </a:pPr>
            <a:r>
              <a:rPr lang="fr"/>
              <a:t>prédiction de la RUL basé sur inputs de l’utilisateur</a:t>
            </a:r>
            <a:endParaRPr/>
          </a:p>
          <a:p>
            <a:pPr indent="-298450" lvl="1" marL="914400" rtl="0" algn="l">
              <a:spcBef>
                <a:spcPts val="0"/>
              </a:spcBef>
              <a:spcAft>
                <a:spcPts val="0"/>
              </a:spcAft>
              <a:buSzPts val="1100"/>
              <a:buChar char="○"/>
            </a:pPr>
            <a:r>
              <a:rPr lang="fr"/>
              <a:t>historique de données affichée</a:t>
            </a:r>
            <a:endParaRPr/>
          </a:p>
          <a:p>
            <a:pPr indent="-298450" lvl="1" marL="914400" rtl="0" algn="l">
              <a:spcBef>
                <a:spcPts val="0"/>
              </a:spcBef>
              <a:spcAft>
                <a:spcPts val="0"/>
              </a:spcAft>
              <a:buSzPts val="1100"/>
              <a:buChar char="○"/>
            </a:pPr>
            <a:r>
              <a:rPr lang="fr"/>
              <a:t>paramétrage de l’interface (ip + port du serveur AAS + constantes de la batterie)</a:t>
            </a:r>
            <a:endParaRPr/>
          </a:p>
        </p:txBody>
      </p:sp>
      <p:pic>
        <p:nvPicPr>
          <p:cNvPr id="283" name="Google Shape;283;p31"/>
          <p:cNvPicPr preferRelativeResize="0"/>
          <p:nvPr/>
        </p:nvPicPr>
        <p:blipFill>
          <a:blip r:embed="rId3">
            <a:alphaModFix/>
          </a:blip>
          <a:stretch>
            <a:fillRect/>
          </a:stretch>
        </p:blipFill>
        <p:spPr>
          <a:xfrm>
            <a:off x="2239975" y="1052965"/>
            <a:ext cx="4664049" cy="234890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Demo</a:t>
            </a:r>
            <a:endParaRPr/>
          </a:p>
        </p:txBody>
      </p:sp>
      <p:pic>
        <p:nvPicPr>
          <p:cNvPr id="289" name="Google Shape;289;p32"/>
          <p:cNvPicPr preferRelativeResize="0"/>
          <p:nvPr/>
        </p:nvPicPr>
        <p:blipFill>
          <a:blip r:embed="rId3">
            <a:alphaModFix/>
          </a:blip>
          <a:stretch>
            <a:fillRect/>
          </a:stretch>
        </p:blipFill>
        <p:spPr>
          <a:xfrm>
            <a:off x="1742350" y="1101525"/>
            <a:ext cx="6149198" cy="38432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Conclusion: Challenges et résultats</a:t>
            </a:r>
            <a:endParaRPr/>
          </a:p>
        </p:txBody>
      </p:sp>
      <p:sp>
        <p:nvSpPr>
          <p:cNvPr id="295" name="Google Shape;295;p33"/>
          <p:cNvSpPr txBox="1"/>
          <p:nvPr>
            <p:ph idx="1" type="body"/>
          </p:nvPr>
        </p:nvSpPr>
        <p:spPr>
          <a:xfrm>
            <a:off x="1030025" y="1109775"/>
            <a:ext cx="7306500" cy="3369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Résultats: un système de jumeau numérique qui:</a:t>
            </a:r>
            <a:endParaRPr/>
          </a:p>
          <a:p>
            <a:pPr indent="-298450" lvl="1" marL="914400" rtl="0" algn="l">
              <a:spcBef>
                <a:spcPts val="0"/>
              </a:spcBef>
              <a:spcAft>
                <a:spcPts val="0"/>
              </a:spcAft>
              <a:buSzPts val="1100"/>
              <a:buChar char="○"/>
            </a:pPr>
            <a:r>
              <a:rPr lang="fr"/>
              <a:t>extrait des information d’un modèle AAS</a:t>
            </a:r>
            <a:endParaRPr/>
          </a:p>
          <a:p>
            <a:pPr indent="-298450" lvl="1" marL="914400" rtl="0" algn="l">
              <a:spcBef>
                <a:spcPts val="0"/>
              </a:spcBef>
              <a:spcAft>
                <a:spcPts val="0"/>
              </a:spcAft>
              <a:buSzPts val="1100"/>
              <a:buChar char="○"/>
            </a:pPr>
            <a:r>
              <a:rPr lang="fr"/>
              <a:t>affiche des information et offre des fonctionnalités aux usagers</a:t>
            </a:r>
            <a:endParaRPr/>
          </a:p>
          <a:p>
            <a:pPr indent="-298450" lvl="1" marL="914400" rtl="0" algn="l">
              <a:spcBef>
                <a:spcPts val="0"/>
              </a:spcBef>
              <a:spcAft>
                <a:spcPts val="0"/>
              </a:spcAft>
              <a:buSzPts val="1100"/>
              <a:buChar char="○"/>
            </a:pPr>
            <a:r>
              <a:rPr lang="fr"/>
              <a:t>prédit la vie restante de la batterie</a:t>
            </a:r>
            <a:endParaRPr/>
          </a:p>
          <a:p>
            <a:pPr indent="-298450" lvl="1" marL="914400" rtl="0" algn="l">
              <a:spcBef>
                <a:spcPts val="0"/>
              </a:spcBef>
              <a:spcAft>
                <a:spcPts val="0"/>
              </a:spcAft>
              <a:buSzPts val="1100"/>
              <a:buChar char="○"/>
            </a:pPr>
            <a:r>
              <a:rPr lang="fr"/>
              <a:t>accepte des inputs des usagers</a:t>
            </a:r>
            <a:endParaRPr/>
          </a:p>
          <a:p>
            <a:pPr indent="0" lvl="0" marL="914400" rtl="0" algn="l">
              <a:spcBef>
                <a:spcPts val="1200"/>
              </a:spcBef>
              <a:spcAft>
                <a:spcPts val="0"/>
              </a:spcAft>
              <a:buNone/>
            </a:pPr>
            <a:r>
              <a:t/>
            </a:r>
            <a:endParaRPr/>
          </a:p>
          <a:p>
            <a:pPr indent="-311150" lvl="0" marL="457200" rtl="0" algn="l">
              <a:spcBef>
                <a:spcPts val="1200"/>
              </a:spcBef>
              <a:spcAft>
                <a:spcPts val="0"/>
              </a:spcAft>
              <a:buSzPts val="1300"/>
              <a:buChar char="●"/>
            </a:pPr>
            <a:r>
              <a:rPr lang="fr"/>
              <a:t>Quelques défis surmontés</a:t>
            </a:r>
            <a:endParaRPr/>
          </a:p>
          <a:p>
            <a:pPr indent="-298450" lvl="1" marL="914400" rtl="0" algn="l">
              <a:spcBef>
                <a:spcPts val="0"/>
              </a:spcBef>
              <a:spcAft>
                <a:spcPts val="0"/>
              </a:spcAft>
              <a:buSzPts val="1100"/>
              <a:buChar char="○"/>
            </a:pPr>
            <a:r>
              <a:rPr lang="fr"/>
              <a:t>traitement et sélection de données </a:t>
            </a:r>
            <a:endParaRPr/>
          </a:p>
          <a:p>
            <a:pPr indent="-298450" lvl="1" marL="914400" rtl="0" algn="l">
              <a:spcBef>
                <a:spcPts val="0"/>
              </a:spcBef>
              <a:spcAft>
                <a:spcPts val="0"/>
              </a:spcAft>
              <a:buSzPts val="1100"/>
              <a:buChar char="○"/>
            </a:pPr>
            <a:r>
              <a:rPr lang="fr"/>
              <a:t>choix de modèle régression</a:t>
            </a:r>
            <a:endParaRPr/>
          </a:p>
          <a:p>
            <a:pPr indent="-298450" lvl="1" marL="914400" rtl="0" algn="l">
              <a:spcBef>
                <a:spcPts val="0"/>
              </a:spcBef>
              <a:spcAft>
                <a:spcPts val="0"/>
              </a:spcAft>
              <a:buSzPts val="1100"/>
              <a:buChar char="○"/>
            </a:pPr>
            <a:r>
              <a:rPr lang="fr"/>
              <a:t>Création modèle AAS: le AAS Explorer était pas mal buggy pour utiliser et fonctionne seulement sur Windows (ne fonctionne pas dans machine virtuelle)</a:t>
            </a:r>
            <a:endParaRPr/>
          </a:p>
          <a:p>
            <a:pPr indent="-298450" lvl="1" marL="914400" rtl="0" algn="l">
              <a:spcBef>
                <a:spcPts val="0"/>
              </a:spcBef>
              <a:spcAft>
                <a:spcPts val="0"/>
              </a:spcAft>
              <a:buSzPts val="1100"/>
              <a:buChar char="○"/>
            </a:pPr>
            <a:r>
              <a:rPr lang="fr"/>
              <a:t>Serveur AAS: difficultés avec accès</a:t>
            </a:r>
            <a:endParaRPr/>
          </a:p>
          <a:p>
            <a:pPr indent="-298450" lvl="1" marL="914400" rtl="0" algn="l">
              <a:spcBef>
                <a:spcPts val="0"/>
              </a:spcBef>
              <a:spcAft>
                <a:spcPts val="0"/>
              </a:spcAft>
              <a:buSzPts val="1100"/>
              <a:buChar char="○"/>
            </a:pPr>
            <a:r>
              <a:rPr lang="fr"/>
              <a:t>packages python et dépendances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